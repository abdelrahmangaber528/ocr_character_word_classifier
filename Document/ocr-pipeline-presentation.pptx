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jp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3" name="Image 0" descr="/home/claude/ocr-pres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93192"/>
            <a:ext cx="722376" cy="7223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25880" y="36576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0A0E27">
              <a:alpha val="6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UNIVERSITY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 ·  AI Track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7160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Computing  ·  Level 3, Semester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65760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12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· MACHINE LEARNING · DISTRIBUTED SYSTEMS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Microservices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457200" y="3429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Handwritten Character &amp; Word Recognition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 ·  EasyOCR  ·  FastAPI  ·  RabbitMQ  ·  Docker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566928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77900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5733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github.com/EnalHazem/ocr-proj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760720" y="5760720"/>
            <a:ext cx="1325880" cy="365760"/>
          </a:xfrm>
          <a:prstGeom prst="roundRect">
            <a:avLst>
              <a:gd name="adj" fmla="val 45000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178040" y="5760720"/>
            <a:ext cx="1325880" cy="365760"/>
          </a:xfrm>
          <a:prstGeom prst="roundRect">
            <a:avLst>
              <a:gd name="adj" fmla="val 45000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7804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595360" y="5760720"/>
            <a:ext cx="1325880" cy="365760"/>
          </a:xfrm>
          <a:prstGeom prst="roundRect">
            <a:avLst>
              <a:gd name="adj" fmla="val 45000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9536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012680" y="5760720"/>
            <a:ext cx="1325880" cy="365760"/>
          </a:xfrm>
          <a:prstGeom prst="roundRect">
            <a:avLst>
              <a:gd name="adj" fmla="val 45000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01268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57200" y="6583680"/>
            <a:ext cx="11247120" cy="9144"/>
          </a:xfrm>
          <a:prstGeom prst="rect">
            <a:avLst/>
          </a:prstGeom>
          <a:solidFill>
            <a:srgbClr val="00D9FF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· the project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containerized OCR system that classifies single handwritten letters (A–Z) using a custom-trained PyTorch MobileNetV2 model AND extracts full words from images using EasyOCR — served through five asynchronous microservices orchestrated by Docker Compose with RabbitMQ event logging.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3063240"/>
            <a:ext cx="457200" cy="36576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246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38862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+ transfer-learned MobileNetV2, trained on the A–Z handwritten dataset with augmentation and label smoothing.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70832" y="301752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07992" y="3063240"/>
            <a:ext cx="457200" cy="36576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2461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3246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645152" y="38862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FastAPI services behind an API Gateway with RabbitMQ fanout for async event logging and observability.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75320" y="3017520"/>
            <a:ext cx="37033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0" y="3063240"/>
            <a:ext cx="457200" cy="36576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2461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46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Deployment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549640" y="38862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services, env-var config, /health probes, Docker Compose — drop-in for Kubernetes, ECS, or Cloud Run.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6692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234440" y="5852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classical ML training with production-grade distributed systems engineering.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26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· why handwritten OCR at scale is hard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REAL-WORLD PROBLEM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handwritten documents — forms, exams, notes — is slow, error-prone, and impossible to scale manually.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3558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transcription is labor-intensive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8130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compounds across batches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2702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document workflows blocks downstream automation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47274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handwriting defeats template-based parsing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5669280"/>
            <a:ext cx="5029200" cy="9144"/>
          </a:xfrm>
          <a:prstGeom prst="rect">
            <a:avLst/>
          </a:prstGeom>
          <a:solidFill>
            <a:srgbClr val="00D9FF">
              <a:alpha val="4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760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OCR ≠ SCALABLE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99632" y="1417320"/>
            <a:ext cx="5532120" cy="4937760"/>
          </a:xfrm>
          <a:prstGeom prst="roundRect">
            <a:avLst>
              <a:gd name="adj" fmla="val 18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6459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951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OF TRADITIONAL APPROACHES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428232" y="2194560"/>
            <a:ext cx="54864" cy="9601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OCR (Tesseract)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83680" y="24871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handwriting variability, irregular strokes, and noise.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28232" y="3337560"/>
            <a:ext cx="54864" cy="9601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ML applications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583680" y="36301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scale; CPU-bound inference blocks the full request path under load.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28232" y="4480560"/>
            <a:ext cx="54864" cy="9601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0" name="Text 26"/>
          <p:cNvSpPr/>
          <p:nvPr/>
        </p:nvSpPr>
        <p:spPr>
          <a:xfrm>
            <a:off x="658368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CPU pipelines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583680" y="47731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— one slow stage stalls the entire system.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428232" y="5669280"/>
            <a:ext cx="5029200" cy="9144"/>
          </a:xfrm>
          <a:prstGeom prst="rect">
            <a:avLst/>
          </a:prstGeom>
          <a:solidFill>
            <a:srgbClr val="00D9FF">
              <a:alpha val="40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6428232" y="57607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Need: CNN-class models + isolated, async, horizontally-scalable services.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26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· hybrid ML + microservices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OCR system — custom CNN/MobileNetV2 for single-character precision + EasyOCR for word/sentence extraction — wrapped in five FastAPI microservices behind an API Gateway, with RabbitMQ for asynchronous event logging.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246120"/>
            <a:ext cx="178308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3558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697480" y="3246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97480" y="3246120"/>
            <a:ext cx="2103120" cy="54864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429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3355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 Gateway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8803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Jinja2 UI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852160" y="25603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52160" y="2560320"/>
            <a:ext cx="2194560" cy="54864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7432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 Character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3504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MobileNetV2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852160" y="39319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52160" y="3931920"/>
            <a:ext cx="2194560" cy="54864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41148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9224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 Word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035040" y="4526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EasyOCR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921240" y="324612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921240" y="3246120"/>
            <a:ext cx="1783080" cy="54864"/>
          </a:xfrm>
          <a:prstGeom prst="rect">
            <a:avLst/>
          </a:prstGeom>
          <a:solidFill>
            <a:srgbClr val="00FFA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34290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561320" y="33558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0104120" y="3840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2240280" y="3749040"/>
            <a:ext cx="45720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4800600" y="3566160"/>
            <a:ext cx="1051560" cy="-5029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4800600" y="3931920"/>
            <a:ext cx="1051560" cy="5029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8046720" y="3063240"/>
            <a:ext cx="1874520" cy="5029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8046720" y="4434840"/>
            <a:ext cx="1874520" cy="-5029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3749040" y="51206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749040" y="5120640"/>
            <a:ext cx="2103120" cy="54864"/>
          </a:xfrm>
          <a:prstGeom prst="rect">
            <a:avLst/>
          </a:prstGeom>
          <a:solidFill>
            <a:srgbClr val="FFD600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5303520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389120" y="5230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:5672 RabbitMQ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3931920" y="5715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fanout exch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ocr_exchange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6766560" y="51206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766560" y="5120640"/>
            <a:ext cx="210312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303520"/>
            <a:ext cx="365760" cy="3657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406640" y="5230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 Logger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6949440" y="5715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pika consumer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</a:t>
            </a:r>
            <a:endParaRPr lang="en-US" sz="950" dirty="0"/>
          </a:p>
        </p:txBody>
      </p:sp>
      <p:sp>
        <p:nvSpPr>
          <p:cNvPr id="49" name="Shape 39"/>
          <p:cNvSpPr/>
          <p:nvPr/>
        </p:nvSpPr>
        <p:spPr>
          <a:xfrm>
            <a:off x="3749040" y="4251960"/>
            <a:ext cx="182880" cy="868680"/>
          </a:xfrm>
          <a:prstGeom prst="line">
            <a:avLst/>
          </a:prstGeom>
          <a:noFill/>
          <a:ln w="20320">
            <a:solidFill>
              <a:srgbClr val="FFD600"/>
            </a:solidFill>
            <a:prstDash val="dash"/>
            <a:tailEnd type="triangle"/>
          </a:ln>
        </p:spPr>
      </p:sp>
      <p:sp>
        <p:nvSpPr>
          <p:cNvPr id="50" name="Shape 40"/>
          <p:cNvSpPr/>
          <p:nvPr/>
        </p:nvSpPr>
        <p:spPr>
          <a:xfrm>
            <a:off x="5852160" y="5577840"/>
            <a:ext cx="914400" cy="0"/>
          </a:xfrm>
          <a:prstGeom prst="line">
            <a:avLst/>
          </a:prstGeom>
          <a:noFill/>
          <a:ln w="20320">
            <a:solidFill>
              <a:srgbClr val="FFD600"/>
            </a:solidFill>
            <a:prstDash val="dash"/>
            <a:tailEnd type="triangle"/>
          </a:ln>
        </p:spPr>
      </p:sp>
      <p:sp>
        <p:nvSpPr>
          <p:cNvPr id="51" name="Text 41"/>
          <p:cNvSpPr/>
          <p:nvPr/>
        </p:nvSpPr>
        <p:spPr>
          <a:xfrm>
            <a:off x="457200" y="6172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AMQP fanout · publish→consume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6035040" y="61722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API Gateway + Async Event Fanout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26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Fundamentals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· what we're solving and why it's hard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08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  </a:t>
            </a:r>
            <a:pPr indent="0" marL="0">
              <a:buNone/>
            </a:pPr>
            <a:r>
              <a:rPr lang="en-US" sz="14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converting pixel-based text/characters into machine-readable strings.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Single-character classification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26-class problem (A–Z) — one letter, one prediction.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CNN / MobileNetV2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45352" y="2377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3952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Multi-character word extraction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73952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bounding boxes + transcribe full words/sentences.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3952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EasyOCR (CRAFT + CRNN)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OCR is hard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1605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348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5440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hand is different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377440" y="41605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43484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37744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pairs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377440" y="5440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O/D, I/L, U/V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297680" y="41605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43484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29768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297680" y="5440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stains, smudges, paper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217920" y="41605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43484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1792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217920" y="5440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skew, tilt, off-axis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138160" y="41605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443484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13816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lighting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138160" y="5440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vs huge, dim vs bright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10058400" y="41605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8480" y="4434840"/>
            <a:ext cx="502920" cy="5029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05840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10058400" y="5440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does one letter end?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26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· 5 containers · 1 docker bridge network · API gateway + async fanout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1384280" cy="4937760"/>
          </a:xfrm>
          <a:prstGeom prst="roundRect">
            <a:avLst>
              <a:gd name="adj" fmla="val 1852"/>
            </a:avLst>
          </a:prstGeom>
          <a:solidFill>
            <a:srgbClr val="0F1535">
              <a:alpha val="50000"/>
            </a:srgbClr>
          </a:solidFill>
          <a:ln w="12700">
            <a:solidFill>
              <a:srgbClr val="00D9F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bridge network: ocr-network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657600" cy="2286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53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bridge network: ocr-network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46120"/>
            <a:ext cx="64008" cy="1188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3355848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355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10712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1732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ocr-gateway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Jinja2 UI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point /predict /predict-word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60520" y="164592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60520" y="1645920"/>
            <a:ext cx="64008" cy="1188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6480" y="1755648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17556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10512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00600" y="1737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ocr-character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343400" y="2212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PyTorch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MobileNetV2 · /predict-character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160520" y="484632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60520" y="4846320"/>
            <a:ext cx="64008" cy="1188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6" name="Shape 22"/>
          <p:cNvSpPr/>
          <p:nvPr/>
        </p:nvSpPr>
        <p:spPr>
          <a:xfrm>
            <a:off x="6126480" y="4956048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26480" y="49560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501091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00600" y="4937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ocr-word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343400" y="54132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EasyOCR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/predict-word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772400" y="324612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3246120"/>
            <a:ext cx="64008" cy="11887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3" name="Shape 28"/>
          <p:cNvSpPr/>
          <p:nvPr/>
        </p:nvSpPr>
        <p:spPr>
          <a:xfrm>
            <a:off x="9509760" y="3355848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509760" y="3355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:5672/:15672</a:t>
            </a:r>
            <a:endParaRPr lang="en-US" sz="9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410712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412480" y="3337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ocr-rabbitmq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955280" y="38130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fanout exchange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ocr_exchange · 3-mgmt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772400" y="484632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72400" y="4846320"/>
            <a:ext cx="64008" cy="11887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0" name="Shape 34"/>
          <p:cNvSpPr/>
          <p:nvPr/>
        </p:nvSpPr>
        <p:spPr>
          <a:xfrm>
            <a:off x="9509760" y="4956048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509760" y="49560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95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5010912"/>
            <a:ext cx="384048" cy="38404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412480" y="4937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ocr-logger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7955280" y="54132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pika consumer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 · /history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10652760" y="169164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dash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1783080"/>
            <a:ext cx="457200" cy="4572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652760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./model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/app/model</a:t>
            </a:r>
            <a:endParaRPr lang="en-US" sz="850" dirty="0"/>
          </a:p>
        </p:txBody>
      </p:sp>
      <p:sp>
        <p:nvSpPr>
          <p:cNvPr id="48" name="Shape 40"/>
          <p:cNvSpPr/>
          <p:nvPr/>
        </p:nvSpPr>
        <p:spPr>
          <a:xfrm>
            <a:off x="10652760" y="2240280"/>
            <a:ext cx="-352044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dash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3383280" y="3566160"/>
            <a:ext cx="777240" cy="-155448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3383280" y="4114800"/>
            <a:ext cx="777240" cy="146304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1" name="Shape 43"/>
          <p:cNvSpPr/>
          <p:nvPr/>
        </p:nvSpPr>
        <p:spPr>
          <a:xfrm>
            <a:off x="4160520" y="2194560"/>
            <a:ext cx="-777240" cy="1554480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  <a:tailEnd type="triangle"/>
          </a:ln>
        </p:spPr>
      </p:sp>
      <p:sp>
        <p:nvSpPr>
          <p:cNvPr id="52" name="Shape 44"/>
          <p:cNvSpPr/>
          <p:nvPr/>
        </p:nvSpPr>
        <p:spPr>
          <a:xfrm>
            <a:off x="4160520" y="5394960"/>
            <a:ext cx="-777240" cy="-1463040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  <a:tailEnd type="triangle"/>
          </a:ln>
        </p:spPr>
      </p:sp>
      <p:sp>
        <p:nvSpPr>
          <p:cNvPr id="53" name="Shape 45"/>
          <p:cNvSpPr/>
          <p:nvPr/>
        </p:nvSpPr>
        <p:spPr>
          <a:xfrm>
            <a:off x="3383280" y="3840480"/>
            <a:ext cx="4389120" cy="0"/>
          </a:xfrm>
          <a:prstGeom prst="line">
            <a:avLst/>
          </a:prstGeom>
          <a:noFill/>
          <a:ln w="20320">
            <a:solidFill>
              <a:srgbClr val="FFD600"/>
            </a:solidFill>
            <a:prstDash val="dash"/>
            <a:tailEnd type="triangle"/>
          </a:ln>
        </p:spPr>
      </p:sp>
      <p:sp>
        <p:nvSpPr>
          <p:cNvPr id="54" name="Text 46"/>
          <p:cNvSpPr/>
          <p:nvPr/>
        </p:nvSpPr>
        <p:spPr>
          <a:xfrm>
            <a:off x="4754880" y="3886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AMQP publish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9116568" y="4434840"/>
            <a:ext cx="0" cy="411480"/>
          </a:xfrm>
          <a:prstGeom prst="line">
            <a:avLst/>
          </a:prstGeom>
          <a:noFill/>
          <a:ln w="20320">
            <a:solidFill>
              <a:srgbClr val="FFD600"/>
            </a:solidFill>
            <a:prstDash val="dash"/>
            <a:tailEnd type="triangle"/>
          </a:ln>
        </p:spPr>
      </p:sp>
      <p:sp>
        <p:nvSpPr>
          <p:cNvPr id="56" name="Text 48"/>
          <p:cNvSpPr/>
          <p:nvPr/>
        </p:nvSpPr>
        <p:spPr>
          <a:xfrm>
            <a:off x="9235440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AMQP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9235440" y="4315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3429000" y="2788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3429000" y="4709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502920" y="5989320"/>
            <a:ext cx="5029200" cy="365760"/>
          </a:xfrm>
          <a:prstGeom prst="roundRect">
            <a:avLst>
              <a:gd name="adj" fmla="val 25000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59436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ENV-VAR injection: CHAR_URL, WORD_URL, RABBITMQ_USER/PASS/HOST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26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· A–Z handwritten · 26 classes · 28×28 grayscale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8016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 ·  "A_Z Handwritten Data"  ·  CSV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 +  784 grayscale pixel columns  →  reshape 28×28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141732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99516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·  A–Z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index → letter   ·   { 0:'A', 1:'B', …, 25:'Z' }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CLEANING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118872" cy="11887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dropna()  —  drop incomplete rows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77240" y="3840480"/>
            <a:ext cx="118872" cy="11887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drop_duplicates()  —  remove repeats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77240" y="4206240"/>
            <a:ext cx="118872" cy="11887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23" name="Text 19"/>
          <p:cNvSpPr/>
          <p:nvPr/>
        </p:nvSpPr>
        <p:spPr>
          <a:xfrm>
            <a:off x="100584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 255.0  —  normalize pixel values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77240" y="4572000"/>
            <a:ext cx="118872" cy="11887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25" name="Text 21"/>
          <p:cNvSpPr/>
          <p:nvPr/>
        </p:nvSpPr>
        <p:spPr>
          <a:xfrm>
            <a:off x="100584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astype(float32)  —  cast for tensor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199632" y="2971800"/>
            <a:ext cx="5532120" cy="1920240"/>
          </a:xfrm>
          <a:prstGeom prst="roundRect">
            <a:avLst>
              <a:gd name="adj" fmla="val 476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STRATEGY  ·  stratified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446520" y="3520440"/>
            <a:ext cx="3488436" cy="4114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9" name="Shape 25"/>
          <p:cNvSpPr/>
          <p:nvPr/>
        </p:nvSpPr>
        <p:spPr>
          <a:xfrm>
            <a:off x="9934956" y="3520440"/>
            <a:ext cx="747522" cy="4114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0" name="Shape 26"/>
          <p:cNvSpPr/>
          <p:nvPr/>
        </p:nvSpPr>
        <p:spPr>
          <a:xfrm>
            <a:off x="10682478" y="3520440"/>
            <a:ext cx="747522" cy="41148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1" name="Text 27"/>
          <p:cNvSpPr/>
          <p:nvPr/>
        </p:nvSpPr>
        <p:spPr>
          <a:xfrm>
            <a:off x="6446520" y="3520440"/>
            <a:ext cx="3488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 train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934956" y="3520440"/>
            <a:ext cx="74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 val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0682478" y="3520440"/>
            <a:ext cx="74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 test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44652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test=0.15 → val=0.15/0.85 of remainder  ·  random_state=42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446520" y="4434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Materialization → ImageFolder layout: data/processed/{train,val,test}/&lt;LETTER&gt;/*.png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57200" y="5074920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5800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distribution  ·  imbalanced (some letters dominate)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731520" y="6023610"/>
            <a:ext cx="185166" cy="240030"/>
          </a:xfrm>
          <a:prstGeom prst="rect">
            <a:avLst/>
          </a:prstGeom>
          <a:solidFill>
            <a:srgbClr val="0066FF">
              <a:alpha val="87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713232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978408" y="5975604"/>
            <a:ext cx="185166" cy="288036"/>
          </a:xfrm>
          <a:prstGeom prst="rect">
            <a:avLst/>
          </a:prstGeom>
          <a:solidFill>
            <a:srgbClr val="0066FF">
              <a:alpha val="8840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960120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1225296" y="6071616"/>
            <a:ext cx="185166" cy="192024"/>
          </a:xfrm>
          <a:prstGeom prst="rect">
            <a:avLst/>
          </a:prstGeom>
          <a:solidFill>
            <a:srgbClr val="0066FF">
              <a:alpha val="85600"/>
            </a:srgbClr>
          </a:solidFill>
          <a:ln/>
        </p:spPr>
      </p:sp>
      <p:sp>
        <p:nvSpPr>
          <p:cNvPr id="43" name="Text 39"/>
          <p:cNvSpPr/>
          <p:nvPr/>
        </p:nvSpPr>
        <p:spPr>
          <a:xfrm>
            <a:off x="1207008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1472184" y="5886450"/>
            <a:ext cx="185166" cy="377190"/>
          </a:xfrm>
          <a:prstGeom prst="rect">
            <a:avLst/>
          </a:prstGeom>
          <a:solidFill>
            <a:srgbClr val="0066FF">
              <a:alpha val="91000"/>
            </a:srgbClr>
          </a:solidFill>
          <a:ln/>
        </p:spPr>
      </p:sp>
      <p:sp>
        <p:nvSpPr>
          <p:cNvPr id="45" name="Text 41"/>
          <p:cNvSpPr/>
          <p:nvPr/>
        </p:nvSpPr>
        <p:spPr>
          <a:xfrm>
            <a:off x="1453896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1719072" y="5838444"/>
            <a:ext cx="185166" cy="425196"/>
          </a:xfrm>
          <a:prstGeom prst="rect">
            <a:avLst/>
          </a:prstGeom>
          <a:solidFill>
            <a:srgbClr val="0066FF">
              <a:alpha val="92400"/>
            </a:srgbClr>
          </a:solidFill>
          <a:ln/>
        </p:spPr>
      </p:sp>
      <p:sp>
        <p:nvSpPr>
          <p:cNvPr id="47" name="Text 43"/>
          <p:cNvSpPr/>
          <p:nvPr/>
        </p:nvSpPr>
        <p:spPr>
          <a:xfrm>
            <a:off x="1700784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1965960" y="6057900"/>
            <a:ext cx="185166" cy="205740"/>
          </a:xfrm>
          <a:prstGeom prst="rect">
            <a:avLst/>
          </a:prstGeom>
          <a:solidFill>
            <a:srgbClr val="0066FF">
              <a:alpha val="86000"/>
            </a:srgbClr>
          </a:solidFill>
          <a:ln/>
        </p:spPr>
      </p:sp>
      <p:sp>
        <p:nvSpPr>
          <p:cNvPr id="49" name="Text 45"/>
          <p:cNvSpPr/>
          <p:nvPr/>
        </p:nvSpPr>
        <p:spPr>
          <a:xfrm>
            <a:off x="1947672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2212848" y="5989320"/>
            <a:ext cx="185166" cy="274320"/>
          </a:xfrm>
          <a:prstGeom prst="rect">
            <a:avLst/>
          </a:prstGeom>
          <a:solidFill>
            <a:srgbClr val="0066FF">
              <a:alpha val="88000"/>
            </a:srgbClr>
          </a:solidFill>
          <a:ln/>
        </p:spPr>
      </p:sp>
      <p:sp>
        <p:nvSpPr>
          <p:cNvPr id="51" name="Text 47"/>
          <p:cNvSpPr/>
          <p:nvPr/>
        </p:nvSpPr>
        <p:spPr>
          <a:xfrm>
            <a:off x="2194560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2459736" y="5955030"/>
            <a:ext cx="185166" cy="308610"/>
          </a:xfrm>
          <a:prstGeom prst="rect">
            <a:avLst/>
          </a:prstGeom>
          <a:solidFill>
            <a:srgbClr val="0066FF">
              <a:alpha val="89000"/>
            </a:srgbClr>
          </a:solidFill>
          <a:ln/>
        </p:spPr>
      </p:sp>
      <p:sp>
        <p:nvSpPr>
          <p:cNvPr id="53" name="Text 49"/>
          <p:cNvSpPr/>
          <p:nvPr/>
        </p:nvSpPr>
        <p:spPr>
          <a:xfrm>
            <a:off x="2441448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750" dirty="0"/>
          </a:p>
        </p:txBody>
      </p:sp>
      <p:sp>
        <p:nvSpPr>
          <p:cNvPr id="54" name="Shape 50"/>
          <p:cNvSpPr/>
          <p:nvPr/>
        </p:nvSpPr>
        <p:spPr>
          <a:xfrm>
            <a:off x="2706624" y="6092190"/>
            <a:ext cx="185166" cy="171450"/>
          </a:xfrm>
          <a:prstGeom prst="rect">
            <a:avLst/>
          </a:prstGeom>
          <a:solidFill>
            <a:srgbClr val="0066FF">
              <a:alpha val="85000"/>
            </a:srgbClr>
          </a:solidFill>
          <a:ln/>
        </p:spPr>
      </p:sp>
      <p:sp>
        <p:nvSpPr>
          <p:cNvPr id="55" name="Text 51"/>
          <p:cNvSpPr/>
          <p:nvPr/>
        </p:nvSpPr>
        <p:spPr>
          <a:xfrm>
            <a:off x="2688336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750" dirty="0"/>
          </a:p>
        </p:txBody>
      </p:sp>
      <p:sp>
        <p:nvSpPr>
          <p:cNvPr id="56" name="Shape 52"/>
          <p:cNvSpPr/>
          <p:nvPr/>
        </p:nvSpPr>
        <p:spPr>
          <a:xfrm>
            <a:off x="2953512" y="6126480"/>
            <a:ext cx="185166" cy="137160"/>
          </a:xfrm>
          <a:prstGeom prst="rect">
            <a:avLst/>
          </a:prstGeom>
          <a:solidFill>
            <a:srgbClr val="0066FF">
              <a:alpha val="84000"/>
            </a:srgbClr>
          </a:solidFill>
          <a:ln/>
        </p:spPr>
      </p:sp>
      <p:sp>
        <p:nvSpPr>
          <p:cNvPr id="57" name="Text 53"/>
          <p:cNvSpPr/>
          <p:nvPr/>
        </p:nvSpPr>
        <p:spPr>
          <a:xfrm>
            <a:off x="2935224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3200400" y="6057900"/>
            <a:ext cx="185166" cy="205740"/>
          </a:xfrm>
          <a:prstGeom prst="rect">
            <a:avLst/>
          </a:prstGeom>
          <a:solidFill>
            <a:srgbClr val="0066FF">
              <a:alpha val="86000"/>
            </a:srgbClr>
          </a:solidFill>
          <a:ln/>
        </p:spPr>
      </p:sp>
      <p:sp>
        <p:nvSpPr>
          <p:cNvPr id="59" name="Text 55"/>
          <p:cNvSpPr/>
          <p:nvPr/>
        </p:nvSpPr>
        <p:spPr>
          <a:xfrm>
            <a:off x="3182112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3447288" y="5920740"/>
            <a:ext cx="185166" cy="342900"/>
          </a:xfrm>
          <a:prstGeom prst="rect">
            <a:avLst/>
          </a:prstGeom>
          <a:solidFill>
            <a:srgbClr val="0066FF">
              <a:alpha val="90000"/>
            </a:srgbClr>
          </a:solidFill>
          <a:ln/>
        </p:spPr>
      </p:sp>
      <p:sp>
        <p:nvSpPr>
          <p:cNvPr id="61" name="Text 57"/>
          <p:cNvSpPr/>
          <p:nvPr/>
        </p:nvSpPr>
        <p:spPr>
          <a:xfrm>
            <a:off x="3429000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3694176" y="5852160"/>
            <a:ext cx="185166" cy="411480"/>
          </a:xfrm>
          <a:prstGeom prst="rect">
            <a:avLst/>
          </a:prstGeom>
          <a:solidFill>
            <a:srgbClr val="0066FF">
              <a:alpha val="92000"/>
            </a:srgbClr>
          </a:solidFill>
          <a:ln/>
        </p:spPr>
      </p:sp>
      <p:sp>
        <p:nvSpPr>
          <p:cNvPr id="63" name="Text 59"/>
          <p:cNvSpPr/>
          <p:nvPr/>
        </p:nvSpPr>
        <p:spPr>
          <a:xfrm>
            <a:off x="3675888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3941064" y="5680710"/>
            <a:ext cx="185166" cy="582930"/>
          </a:xfrm>
          <a:prstGeom prst="rect">
            <a:avLst/>
          </a:prstGeom>
          <a:solidFill>
            <a:srgbClr val="00D9FF">
              <a:alpha val="97000"/>
            </a:srgbClr>
          </a:solidFill>
          <a:ln/>
        </p:spPr>
      </p:sp>
      <p:sp>
        <p:nvSpPr>
          <p:cNvPr id="65" name="Text 61"/>
          <p:cNvSpPr/>
          <p:nvPr/>
        </p:nvSpPr>
        <p:spPr>
          <a:xfrm>
            <a:off x="3922776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4187952" y="5783580"/>
            <a:ext cx="185166" cy="480060"/>
          </a:xfrm>
          <a:prstGeom prst="rect">
            <a:avLst/>
          </a:prstGeom>
          <a:solidFill>
            <a:srgbClr val="0066FF">
              <a:alpha val="94000"/>
            </a:srgbClr>
          </a:solidFill>
          <a:ln/>
        </p:spPr>
      </p:sp>
      <p:sp>
        <p:nvSpPr>
          <p:cNvPr id="67" name="Text 63"/>
          <p:cNvSpPr/>
          <p:nvPr/>
        </p:nvSpPr>
        <p:spPr>
          <a:xfrm>
            <a:off x="4169664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750" dirty="0"/>
          </a:p>
        </p:txBody>
      </p:sp>
      <p:sp>
        <p:nvSpPr>
          <p:cNvPr id="68" name="Shape 64"/>
          <p:cNvSpPr/>
          <p:nvPr/>
        </p:nvSpPr>
        <p:spPr>
          <a:xfrm>
            <a:off x="4434840" y="5989320"/>
            <a:ext cx="185166" cy="274320"/>
          </a:xfrm>
          <a:prstGeom prst="rect">
            <a:avLst/>
          </a:prstGeom>
          <a:solidFill>
            <a:srgbClr val="0066FF">
              <a:alpha val="88000"/>
            </a:srgbClr>
          </a:solidFill>
          <a:ln/>
        </p:spPr>
      </p:sp>
      <p:sp>
        <p:nvSpPr>
          <p:cNvPr id="69" name="Text 65"/>
          <p:cNvSpPr/>
          <p:nvPr/>
        </p:nvSpPr>
        <p:spPr>
          <a:xfrm>
            <a:off x="4416552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4681728" y="6126480"/>
            <a:ext cx="185166" cy="137160"/>
          </a:xfrm>
          <a:prstGeom prst="rect">
            <a:avLst/>
          </a:prstGeom>
          <a:solidFill>
            <a:srgbClr val="0066FF">
              <a:alpha val="84000"/>
            </a:srgbClr>
          </a:solidFill>
          <a:ln/>
        </p:spPr>
      </p:sp>
      <p:sp>
        <p:nvSpPr>
          <p:cNvPr id="71" name="Text 67"/>
          <p:cNvSpPr/>
          <p:nvPr/>
        </p:nvSpPr>
        <p:spPr>
          <a:xfrm>
            <a:off x="4663440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750" dirty="0"/>
          </a:p>
        </p:txBody>
      </p:sp>
      <p:sp>
        <p:nvSpPr>
          <p:cNvPr id="72" name="Shape 68"/>
          <p:cNvSpPr/>
          <p:nvPr/>
        </p:nvSpPr>
        <p:spPr>
          <a:xfrm>
            <a:off x="4928616" y="5886450"/>
            <a:ext cx="185166" cy="377190"/>
          </a:xfrm>
          <a:prstGeom prst="rect">
            <a:avLst/>
          </a:prstGeom>
          <a:solidFill>
            <a:srgbClr val="0066FF">
              <a:alpha val="91000"/>
            </a:srgbClr>
          </a:solidFill>
          <a:ln/>
        </p:spPr>
      </p:sp>
      <p:sp>
        <p:nvSpPr>
          <p:cNvPr id="73" name="Text 69"/>
          <p:cNvSpPr/>
          <p:nvPr/>
        </p:nvSpPr>
        <p:spPr>
          <a:xfrm>
            <a:off x="4910328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750" dirty="0"/>
          </a:p>
        </p:txBody>
      </p:sp>
      <p:sp>
        <p:nvSpPr>
          <p:cNvPr id="74" name="Shape 70"/>
          <p:cNvSpPr/>
          <p:nvPr/>
        </p:nvSpPr>
        <p:spPr>
          <a:xfrm>
            <a:off x="5175504" y="5769864"/>
            <a:ext cx="185166" cy="493776"/>
          </a:xfrm>
          <a:prstGeom prst="rect">
            <a:avLst/>
          </a:prstGeom>
          <a:solidFill>
            <a:srgbClr val="0066FF">
              <a:alpha val="94400"/>
            </a:srgbClr>
          </a:solidFill>
          <a:ln/>
        </p:spPr>
      </p:sp>
      <p:sp>
        <p:nvSpPr>
          <p:cNvPr id="75" name="Text 71"/>
          <p:cNvSpPr/>
          <p:nvPr/>
        </p:nvSpPr>
        <p:spPr>
          <a:xfrm>
            <a:off x="5157216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5422392" y="5728716"/>
            <a:ext cx="185166" cy="534924"/>
          </a:xfrm>
          <a:prstGeom prst="rect">
            <a:avLst/>
          </a:prstGeom>
          <a:solidFill>
            <a:srgbClr val="0066FF">
              <a:alpha val="95600"/>
            </a:srgbClr>
          </a:solidFill>
          <a:ln/>
        </p:spPr>
      </p:sp>
      <p:sp>
        <p:nvSpPr>
          <p:cNvPr id="77" name="Text 73"/>
          <p:cNvSpPr/>
          <p:nvPr/>
        </p:nvSpPr>
        <p:spPr>
          <a:xfrm>
            <a:off x="5404104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750" dirty="0"/>
          </a:p>
        </p:txBody>
      </p:sp>
      <p:sp>
        <p:nvSpPr>
          <p:cNvPr id="78" name="Shape 74"/>
          <p:cNvSpPr/>
          <p:nvPr/>
        </p:nvSpPr>
        <p:spPr>
          <a:xfrm>
            <a:off x="5669280" y="5955030"/>
            <a:ext cx="185166" cy="308610"/>
          </a:xfrm>
          <a:prstGeom prst="rect">
            <a:avLst/>
          </a:prstGeom>
          <a:solidFill>
            <a:srgbClr val="0066FF">
              <a:alpha val="89000"/>
            </a:srgbClr>
          </a:solidFill>
          <a:ln/>
        </p:spPr>
      </p:sp>
      <p:sp>
        <p:nvSpPr>
          <p:cNvPr id="79" name="Text 75"/>
          <p:cNvSpPr/>
          <p:nvPr/>
        </p:nvSpPr>
        <p:spPr>
          <a:xfrm>
            <a:off x="5650992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750" dirty="0"/>
          </a:p>
        </p:txBody>
      </p:sp>
      <p:sp>
        <p:nvSpPr>
          <p:cNvPr id="80" name="Shape 76"/>
          <p:cNvSpPr/>
          <p:nvPr/>
        </p:nvSpPr>
        <p:spPr>
          <a:xfrm>
            <a:off x="5916168" y="6057900"/>
            <a:ext cx="185166" cy="205740"/>
          </a:xfrm>
          <a:prstGeom prst="rect">
            <a:avLst/>
          </a:prstGeom>
          <a:solidFill>
            <a:srgbClr val="0066FF">
              <a:alpha val="86000"/>
            </a:srgbClr>
          </a:solidFill>
          <a:ln/>
        </p:spPr>
      </p:sp>
      <p:sp>
        <p:nvSpPr>
          <p:cNvPr id="81" name="Text 77"/>
          <p:cNvSpPr/>
          <p:nvPr/>
        </p:nvSpPr>
        <p:spPr>
          <a:xfrm>
            <a:off x="5897880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6163056" y="5989320"/>
            <a:ext cx="185166" cy="274320"/>
          </a:xfrm>
          <a:prstGeom prst="rect">
            <a:avLst/>
          </a:prstGeom>
          <a:solidFill>
            <a:srgbClr val="0066FF">
              <a:alpha val="88000"/>
            </a:srgbClr>
          </a:solidFill>
          <a:ln/>
        </p:spPr>
      </p:sp>
      <p:sp>
        <p:nvSpPr>
          <p:cNvPr id="83" name="Text 79"/>
          <p:cNvSpPr/>
          <p:nvPr/>
        </p:nvSpPr>
        <p:spPr>
          <a:xfrm>
            <a:off x="6144768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750" dirty="0"/>
          </a:p>
        </p:txBody>
      </p:sp>
      <p:sp>
        <p:nvSpPr>
          <p:cNvPr id="84" name="Shape 80"/>
          <p:cNvSpPr/>
          <p:nvPr/>
        </p:nvSpPr>
        <p:spPr>
          <a:xfrm>
            <a:off x="6409944" y="6092190"/>
            <a:ext cx="185166" cy="171450"/>
          </a:xfrm>
          <a:prstGeom prst="rect">
            <a:avLst/>
          </a:prstGeom>
          <a:solidFill>
            <a:srgbClr val="0066FF">
              <a:alpha val="85000"/>
            </a:srgbClr>
          </a:solidFill>
          <a:ln/>
        </p:spPr>
      </p:sp>
      <p:sp>
        <p:nvSpPr>
          <p:cNvPr id="85" name="Text 81"/>
          <p:cNvSpPr/>
          <p:nvPr/>
        </p:nvSpPr>
        <p:spPr>
          <a:xfrm>
            <a:off x="6391656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750" dirty="0"/>
          </a:p>
        </p:txBody>
      </p:sp>
      <p:sp>
        <p:nvSpPr>
          <p:cNvPr id="86" name="Shape 82"/>
          <p:cNvSpPr/>
          <p:nvPr/>
        </p:nvSpPr>
        <p:spPr>
          <a:xfrm>
            <a:off x="6656832" y="5886450"/>
            <a:ext cx="185166" cy="377190"/>
          </a:xfrm>
          <a:prstGeom prst="rect">
            <a:avLst/>
          </a:prstGeom>
          <a:solidFill>
            <a:srgbClr val="0066FF">
              <a:alpha val="91000"/>
            </a:srgbClr>
          </a:solidFill>
          <a:ln/>
        </p:spPr>
      </p:sp>
      <p:sp>
        <p:nvSpPr>
          <p:cNvPr id="87" name="Text 83"/>
          <p:cNvSpPr/>
          <p:nvPr/>
        </p:nvSpPr>
        <p:spPr>
          <a:xfrm>
            <a:off x="6638544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750" dirty="0"/>
          </a:p>
        </p:txBody>
      </p:sp>
      <p:sp>
        <p:nvSpPr>
          <p:cNvPr id="88" name="Shape 84"/>
          <p:cNvSpPr/>
          <p:nvPr/>
        </p:nvSpPr>
        <p:spPr>
          <a:xfrm>
            <a:off x="6903720" y="6023610"/>
            <a:ext cx="185166" cy="240030"/>
          </a:xfrm>
          <a:prstGeom prst="rect">
            <a:avLst/>
          </a:prstGeom>
          <a:solidFill>
            <a:srgbClr val="0066FF">
              <a:alpha val="87000"/>
            </a:srgbClr>
          </a:solidFill>
          <a:ln/>
        </p:spPr>
      </p:sp>
      <p:sp>
        <p:nvSpPr>
          <p:cNvPr id="89" name="Text 85"/>
          <p:cNvSpPr/>
          <p:nvPr/>
        </p:nvSpPr>
        <p:spPr>
          <a:xfrm>
            <a:off x="6885432" y="6263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750" dirty="0"/>
          </a:p>
        </p:txBody>
      </p:sp>
      <p:sp>
        <p:nvSpPr>
          <p:cNvPr id="90" name="Shape 86"/>
          <p:cNvSpPr/>
          <p:nvPr/>
        </p:nvSpPr>
        <p:spPr>
          <a:xfrm>
            <a:off x="7955280" y="5074920"/>
            <a:ext cx="3776472" cy="1325880"/>
          </a:xfrm>
          <a:prstGeom prst="roundRect">
            <a:avLst>
              <a:gd name="adj" fmla="val 6897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80924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letters  ·  28×28</a:t>
            </a:r>
            <a:endParaRPr lang="en-US" sz="1000" dirty="0"/>
          </a:p>
        </p:txBody>
      </p:sp>
      <p:sp>
        <p:nvSpPr>
          <p:cNvPr id="92" name="Shape 88"/>
          <p:cNvSpPr/>
          <p:nvPr/>
        </p:nvSpPr>
        <p:spPr>
          <a:xfrm>
            <a:off x="8229600" y="5440680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229600" y="544068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94" name="Shape 90"/>
          <p:cNvSpPr/>
          <p:nvPr/>
        </p:nvSpPr>
        <p:spPr>
          <a:xfrm>
            <a:off x="8476488" y="5440680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8476488" y="544068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100" dirty="0"/>
          </a:p>
        </p:txBody>
      </p:sp>
      <p:sp>
        <p:nvSpPr>
          <p:cNvPr id="96" name="Shape 92"/>
          <p:cNvSpPr/>
          <p:nvPr/>
        </p:nvSpPr>
        <p:spPr>
          <a:xfrm>
            <a:off x="8723376" y="5440680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8723376" y="544068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98" name="Shape 94"/>
          <p:cNvSpPr/>
          <p:nvPr/>
        </p:nvSpPr>
        <p:spPr>
          <a:xfrm>
            <a:off x="8970264" y="5440680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8970264" y="544068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100" dirty="0"/>
          </a:p>
        </p:txBody>
      </p:sp>
      <p:sp>
        <p:nvSpPr>
          <p:cNvPr id="100" name="Shape 96"/>
          <p:cNvSpPr/>
          <p:nvPr/>
        </p:nvSpPr>
        <p:spPr>
          <a:xfrm>
            <a:off x="8229600" y="5687568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01" name="Text 97"/>
          <p:cNvSpPr/>
          <p:nvPr/>
        </p:nvSpPr>
        <p:spPr>
          <a:xfrm>
            <a:off x="8229600" y="568756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102" name="Shape 98"/>
          <p:cNvSpPr/>
          <p:nvPr/>
        </p:nvSpPr>
        <p:spPr>
          <a:xfrm>
            <a:off x="8476488" y="5687568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8476488" y="568756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104" name="Shape 100"/>
          <p:cNvSpPr/>
          <p:nvPr/>
        </p:nvSpPr>
        <p:spPr>
          <a:xfrm>
            <a:off x="8723376" y="5687568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8723376" y="568756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100" dirty="0"/>
          </a:p>
        </p:txBody>
      </p:sp>
      <p:sp>
        <p:nvSpPr>
          <p:cNvPr id="106" name="Shape 102"/>
          <p:cNvSpPr/>
          <p:nvPr/>
        </p:nvSpPr>
        <p:spPr>
          <a:xfrm>
            <a:off x="8970264" y="5687568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8970264" y="568756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100" dirty="0"/>
          </a:p>
        </p:txBody>
      </p:sp>
      <p:sp>
        <p:nvSpPr>
          <p:cNvPr id="108" name="Shape 104"/>
          <p:cNvSpPr/>
          <p:nvPr/>
        </p:nvSpPr>
        <p:spPr>
          <a:xfrm>
            <a:off x="8229600" y="5934456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09" name="Text 105"/>
          <p:cNvSpPr/>
          <p:nvPr/>
        </p:nvSpPr>
        <p:spPr>
          <a:xfrm>
            <a:off x="8229600" y="593445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110" name="Shape 106"/>
          <p:cNvSpPr/>
          <p:nvPr/>
        </p:nvSpPr>
        <p:spPr>
          <a:xfrm>
            <a:off x="8476488" y="5934456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8476488" y="593445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112" name="Shape 108"/>
          <p:cNvSpPr/>
          <p:nvPr/>
        </p:nvSpPr>
        <p:spPr>
          <a:xfrm>
            <a:off x="8723376" y="5934456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13" name="Text 109"/>
          <p:cNvSpPr/>
          <p:nvPr/>
        </p:nvSpPr>
        <p:spPr>
          <a:xfrm>
            <a:off x="8723376" y="593445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114" name="Shape 110"/>
          <p:cNvSpPr/>
          <p:nvPr/>
        </p:nvSpPr>
        <p:spPr>
          <a:xfrm>
            <a:off x="8970264" y="5934456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8970264" y="593445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116" name="Shape 112"/>
          <p:cNvSpPr/>
          <p:nvPr/>
        </p:nvSpPr>
        <p:spPr>
          <a:xfrm>
            <a:off x="8229600" y="6181344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229600" y="61813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118" name="Shape 114"/>
          <p:cNvSpPr/>
          <p:nvPr/>
        </p:nvSpPr>
        <p:spPr>
          <a:xfrm>
            <a:off x="8476488" y="6181344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8476488" y="61813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100" dirty="0"/>
          </a:p>
        </p:txBody>
      </p:sp>
      <p:sp>
        <p:nvSpPr>
          <p:cNvPr id="120" name="Shape 116"/>
          <p:cNvSpPr/>
          <p:nvPr/>
        </p:nvSpPr>
        <p:spPr>
          <a:xfrm>
            <a:off x="8723376" y="6181344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21" name="Text 117"/>
          <p:cNvSpPr/>
          <p:nvPr/>
        </p:nvSpPr>
        <p:spPr>
          <a:xfrm>
            <a:off x="8723376" y="61813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100" dirty="0"/>
          </a:p>
        </p:txBody>
      </p:sp>
      <p:sp>
        <p:nvSpPr>
          <p:cNvPr id="122" name="Shape 118"/>
          <p:cNvSpPr/>
          <p:nvPr/>
        </p:nvSpPr>
        <p:spPr>
          <a:xfrm>
            <a:off x="8970264" y="6181344"/>
            <a:ext cx="210312" cy="210312"/>
          </a:xfrm>
          <a:prstGeom prst="rect">
            <a:avLst/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8970264" y="61813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100" dirty="0"/>
          </a:p>
        </p:txBody>
      </p:sp>
      <p:sp>
        <p:nvSpPr>
          <p:cNvPr id="124" name="Text 1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26</a:t>
            </a:r>
            <a:endParaRPr lang="en-US" sz="900" dirty="0"/>
          </a:p>
        </p:txBody>
      </p:sp>
      <p:sp>
        <p:nvSpPr>
          <p:cNvPr id="126" name="Shape 122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 · two transform tracks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632704" cy="4434840"/>
          </a:xfrm>
          <a:prstGeom prst="roundRect">
            <a:avLst>
              <a:gd name="adj" fmla="val 206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44348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28×28  ·  grayscale  ·  1-channel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Grayscale(1)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RandomRotation(15°)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RandomAffine(translate=0.1, shear=5°)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66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ToTensor()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97764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Normalize(mean=0.1307, std=0.3081)  // MNIST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1417320"/>
            <a:ext cx="5632704" cy="4434840"/>
          </a:xfrm>
          <a:prstGeom prst="roundRect">
            <a:avLst>
              <a:gd name="adj" fmla="val 206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1417320"/>
            <a:ext cx="64008" cy="44348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18504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18504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224×224  ·  3-channel  ·  ImageNet stats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18504" y="233172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67144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Grayscale(1)  →  Resize(224)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18504" y="274320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67144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RandomRotation(15°)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18504" y="315468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67144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RandomAffine(translate=0.1, shear=5°)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18504" y="356616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566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67144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Grayscale(3)  // channel replication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18504" y="397764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0F153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64224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67144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ToTensor()  →  Normalize(ImageNet mean/std)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989320"/>
            <a:ext cx="5632704" cy="365760"/>
          </a:xfrm>
          <a:prstGeom prst="roundRect">
            <a:avLst>
              <a:gd name="adj" fmla="val 25000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 transforms = train transforms minus augmentation (deterministic)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9904" y="5989320"/>
            <a:ext cx="5632704" cy="365760"/>
          </a:xfrm>
          <a:prstGeom prst="roundRect">
            <a:avLst>
              <a:gd name="adj" fmla="val 25000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5989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variety: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315200" y="6016752"/>
            <a:ext cx="310896" cy="310896"/>
          </a:xfrm>
          <a:prstGeom prst="rect">
            <a:avLst/>
          </a:prstGeom>
          <a:solidFill>
            <a:srgbClr val="0A0E27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 rot="-720000">
            <a:off x="7315200" y="6016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183880" y="6016752"/>
            <a:ext cx="310896" cy="310896"/>
          </a:xfrm>
          <a:prstGeom prst="rect">
            <a:avLst/>
          </a:prstGeom>
          <a:solidFill>
            <a:srgbClr val="0A0E27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 rot="-360000">
            <a:off x="8183880" y="6016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052560" y="6016752"/>
            <a:ext cx="310896" cy="310896"/>
          </a:xfrm>
          <a:prstGeom prst="rect">
            <a:avLst/>
          </a:prstGeom>
          <a:solidFill>
            <a:srgbClr val="0A0E27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6016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921240" y="6016752"/>
            <a:ext cx="310896" cy="310896"/>
          </a:xfrm>
          <a:prstGeom prst="rect">
            <a:avLst/>
          </a:prstGeom>
          <a:solidFill>
            <a:srgbClr val="0A0E27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 rot="420000">
            <a:off x="9921240" y="6016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0789920" y="6016752"/>
            <a:ext cx="310896" cy="310896"/>
          </a:xfrm>
          <a:prstGeom prst="rect">
            <a:avLst/>
          </a:prstGeom>
          <a:solidFill>
            <a:srgbClr val="0A0E27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 rot="780000">
            <a:off x="10789920" y="6016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 · two trained · one pre-built · benchmarked head-to-head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749040" cy="4937760"/>
          </a:xfrm>
          <a:prstGeom prst="roundRect">
            <a:avLst>
              <a:gd name="adj" fmla="val 2439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7490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00200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9525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0312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OCR_CNN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from scratch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81912" y="4023360"/>
            <a:ext cx="1499616" cy="9144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427939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baseline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478231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663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architectural control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528523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166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CPU · trains on raw 28×28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5788152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may underfit complex strokes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70832" y="1417320"/>
            <a:ext cx="3749040" cy="4937760"/>
          </a:xfrm>
          <a:prstGeom prst="roundRect">
            <a:avLst>
              <a:gd name="adj" fmla="val 2439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0832" y="1417320"/>
            <a:ext cx="3749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553712" y="1600200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53712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WINNER</a:t>
            </a:r>
            <a:endParaRPr lang="en-US" sz="9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103120"/>
            <a:ext cx="914400" cy="9144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370832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4370832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 learning · ImageNet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95544" y="4023360"/>
            <a:ext cx="1499616" cy="9144"/>
          </a:xfrm>
          <a:prstGeom prst="rect">
            <a:avLst/>
          </a:prstGeom>
          <a:solidFill>
            <a:srgbClr val="00D9FF">
              <a:alpha val="5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4645152" y="4279392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1" name="Text 27"/>
          <p:cNvSpPr/>
          <p:nvPr/>
        </p:nvSpPr>
        <p:spPr>
          <a:xfrm>
            <a:off x="4828032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1.4M ImageNet images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645152" y="4782312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3" name="Text 29"/>
          <p:cNvSpPr/>
          <p:nvPr/>
        </p:nvSpPr>
        <p:spPr>
          <a:xfrm>
            <a:off x="4828032" y="4663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convs · mobile-friendly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645152" y="5285232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1"/>
          <p:cNvSpPr/>
          <p:nvPr/>
        </p:nvSpPr>
        <p:spPr>
          <a:xfrm>
            <a:off x="4828032" y="5166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fine-tune (head, then full)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645152" y="5788152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7" name="Text 33"/>
          <p:cNvSpPr/>
          <p:nvPr/>
        </p:nvSpPr>
        <p:spPr>
          <a:xfrm>
            <a:off x="4828032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~3.5M params · highest accuracy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8275320" y="141732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275320" y="1417320"/>
            <a:ext cx="3703320" cy="5486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0" name="Shape 36"/>
          <p:cNvSpPr/>
          <p:nvPr/>
        </p:nvSpPr>
        <p:spPr>
          <a:xfrm>
            <a:off x="8458200" y="1600200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0F1535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45820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PRE-BUILT</a:t>
            </a:r>
            <a:endParaRPr lang="en-US" sz="9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0" y="2103120"/>
            <a:ext cx="914400" cy="91440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275320" y="3154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2200" dirty="0"/>
          </a:p>
        </p:txBody>
      </p:sp>
      <p:sp>
        <p:nvSpPr>
          <p:cNvPr id="44" name="Text 39"/>
          <p:cNvSpPr/>
          <p:nvPr/>
        </p:nvSpPr>
        <p:spPr>
          <a:xfrm>
            <a:off x="82753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Pre-built · word-level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9386316" y="4023360"/>
            <a:ext cx="1481328" cy="9144"/>
          </a:xfrm>
          <a:prstGeom prst="rect">
            <a:avLst/>
          </a:prstGeom>
          <a:solidFill>
            <a:srgbClr val="00FFA3">
              <a:alpha val="50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8549640" y="4279392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47" name="Text 42"/>
          <p:cNvSpPr/>
          <p:nvPr/>
        </p:nvSpPr>
        <p:spPr>
          <a:xfrm>
            <a:off x="8732520" y="4160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detector + CRNN recognizer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8549640" y="4782312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49" name="Text 44"/>
          <p:cNvSpPr/>
          <p:nvPr/>
        </p:nvSpPr>
        <p:spPr>
          <a:xfrm>
            <a:off x="8732520" y="4663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pack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8549640" y="5285232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51" name="Text 46"/>
          <p:cNvSpPr/>
          <p:nvPr/>
        </p:nvSpPr>
        <p:spPr>
          <a:xfrm>
            <a:off x="873252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transcription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8549640" y="5788152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53" name="Text 48"/>
          <p:cNvSpPr/>
          <p:nvPr/>
        </p:nvSpPr>
        <p:spPr>
          <a:xfrm>
            <a:off x="8732520" y="56692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engineering choice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26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Custom CNN  (OCR_CNN)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· lightweight from-scratch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474720" cy="4937760"/>
          </a:xfrm>
          <a:prstGeom prst="roundRect">
            <a:avLst>
              <a:gd name="adj" fmla="val 263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baseline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architectural control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on CPU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657600"/>
            <a:ext cx="3108960" cy="9144"/>
          </a:xfrm>
          <a:prstGeom prst="rect">
            <a:avLst/>
          </a:prstGeom>
          <a:solidFill>
            <a:srgbClr val="00D9FF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·  TARGET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4041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28×28 grayscale  →  26 classes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49377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parameter count.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underfit complex handwriting variations on tougher classes (curvy letters).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14800" y="1417320"/>
            <a:ext cx="7616952" cy="4937760"/>
          </a:xfrm>
          <a:prstGeom prst="roundRect">
            <a:avLst>
              <a:gd name="adj" fmla="val 18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 ·  3 conv blocks + classifier head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3400" y="192024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0F1535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34840" y="22860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Conv(1→32, 3×3)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Conv(32→32)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MaxPool(2)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Dropout2d(0.25)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63640" y="192024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0F1535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55080" y="22860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Conv(32→64)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Conv(64→64)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MaxPool(2)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Dropout2d(0.25)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183880" y="192024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0F1535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75320" y="228600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Conv(64→128)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AdaptiveAvgPool(1)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feature vec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shape (128,)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0104120" y="1920240"/>
            <a:ext cx="1508760" cy="1691640"/>
          </a:xfrm>
          <a:prstGeom prst="roundRect">
            <a:avLst>
              <a:gd name="adj" fmla="val 4848"/>
            </a:avLst>
          </a:prstGeom>
          <a:solidFill>
            <a:srgbClr val="0F1535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0412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195560" y="22860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FC(128→256)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Dropout(0.5)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FC(256→26)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35040" y="2743200"/>
            <a:ext cx="2286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955280" y="2743200"/>
            <a:ext cx="2286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875520" y="2743200"/>
            <a:ext cx="2286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4343400" y="3749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28×28×1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0104120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softmax(26)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343400" y="4251960"/>
            <a:ext cx="7269480" cy="2011680"/>
          </a:xfrm>
          <a:prstGeom prst="roundRect">
            <a:avLst>
              <a:gd name="adj" fmla="val 4545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CHARACTERISTICS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2628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Receptive field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4652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 ·  good for digit-sized glyphs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2628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4652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CPU-friendly  ·  fast forward pass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2628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4652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 + Dropout(0.25 / 0.5)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52628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46520" y="5760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 throughout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26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MobileNetV2  (transfer learning)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 · ImageNet → handwriting fine-tune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MOBILENETV2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features generalize even to grayscale handwriting. Depthwise-separable convs = mobile-friendly inference at ~3.5M params with high accuracy.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141732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 CLASSIFIER HEAD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46520" y="17830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Dropout(0.3)  →  Linear(1280 → 512)  →  ReLU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Dropout(0.3)  →  Linear(512 → 26)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246120"/>
            <a:ext cx="11274552" cy="2103120"/>
          </a:xfrm>
          <a:prstGeom prst="roundRect">
            <a:avLst>
              <a:gd name="adj" fmla="val 434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TWO-PHASE TRAINING STRATEGY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840480"/>
            <a:ext cx="10698480" cy="36576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840480"/>
            <a:ext cx="2139696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7" name="Shape 14"/>
          <p:cNvSpPr/>
          <p:nvPr/>
        </p:nvSpPr>
        <p:spPr>
          <a:xfrm>
            <a:off x="2916936" y="3840480"/>
            <a:ext cx="8558784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22376" y="380390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862072" y="380390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2459736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5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1420856" y="380390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1101852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25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77240" y="425196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251960"/>
            <a:ext cx="54864" cy="10058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·  epochs 1–5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1440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Freeze backbone (features.requires_grad=False)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head only  ·  lr=1e-3  ·  StepLR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160520" y="4251960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60520" y="4251960"/>
            <a:ext cx="54864" cy="10058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0" name="Text 27"/>
          <p:cNvSpPr/>
          <p:nvPr/>
        </p:nvSpPr>
        <p:spPr>
          <a:xfrm>
            <a:off x="4297680" y="4297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 ·  epochs 6–25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297680" y="4572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Unfreeze ALL layers  ·  full fine-tune  ·  lr=5e-5  ·  CosineAnnealingLR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297680" y="4846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Convergence is smoother and final accuracy consistently exceeds the from-scratch CNN baseline.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548640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5577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Depthwise-separable conv  =  depthwise (per-channel) → 1×1 pointwise   ·   ~8–9× fewer FLOPs vs standard conv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85800" y="594360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0F1535"/>
          </a:solidFill>
          <a:ln w="9525">
            <a:solidFill>
              <a:srgbClr val="8B95C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5943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286000" y="5943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86000" y="5943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DEPTHWISE 3×3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26280" y="5943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26280" y="5943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POINTWISE 1×1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766560" y="5943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F1535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66560" y="5943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138160" y="5943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F1535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5943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ReLU6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9509760" y="5943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F1535"/>
          </a:solidFill>
          <a:ln w="9525">
            <a:solidFill>
              <a:srgbClr val="8B95C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509760" y="5943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075688" y="6103620"/>
            <a:ext cx="210312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4315968" y="6103620"/>
            <a:ext cx="210312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6556248" y="6103620"/>
            <a:ext cx="210312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7973568" y="6103620"/>
            <a:ext cx="164592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9345168" y="6103620"/>
            <a:ext cx="164592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2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26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EasyOCR  (word service)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 · pre-built · CRAFT detector + CRNN recognizer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deep-learning OCR with two stages: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60604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606040"/>
            <a:ext cx="54864" cy="10972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CRAFT detector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063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Predicts character/affinity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heatmaps  →  bounding boxes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" y="384048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840480"/>
            <a:ext cx="54864" cy="10972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CRNN recognizer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4297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model: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 backbone + BiLSTM + CTC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5074920"/>
            <a:ext cx="5029200" cy="9144"/>
          </a:xfrm>
          <a:prstGeom prst="rect">
            <a:avLst/>
          </a:prstGeom>
          <a:solidFill>
            <a:srgbClr val="00D9FF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USE IT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" y="5440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rebuilding a sequence model — pragmatic engineering choice. Lets us focus our novel contribution on character-level accuracy.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99632" y="1417320"/>
            <a:ext cx="5532120" cy="4937760"/>
          </a:xfrm>
          <a:prstGeom prst="roundRect">
            <a:avLst>
              <a:gd name="adj" fmla="val 18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 ·  word service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46520" y="1783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detection + transcription for full words/sentences in uploaded images. English language pack only (extensible).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4652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·  per detection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4652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(bbox, text, confidence)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465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POST-PROCESSING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0" y="3813048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28" name="Text 25"/>
          <p:cNvSpPr/>
          <p:nvPr/>
        </p:nvSpPr>
        <p:spPr>
          <a:xfrm>
            <a:off x="676656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detected strings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0" y="4178808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uppercase the result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583680" y="4544568"/>
            <a:ext cx="91440" cy="9144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32" name="Text 29"/>
          <p:cNvSpPr/>
          <p:nvPr/>
        </p:nvSpPr>
        <p:spPr>
          <a:xfrm>
            <a:off x="676656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per-character confidence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46520" y="4937760"/>
            <a:ext cx="5166360" cy="1325880"/>
          </a:xfrm>
          <a:prstGeom prst="roundRect">
            <a:avLst>
              <a:gd name="adj" fmla="val 4138"/>
            </a:avLst>
          </a:prstGeom>
          <a:solidFill>
            <a:srgbClr val="060818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0" y="49834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83680" y="51663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"predicted_word": </a:t>
            </a:r>
            <a:pPr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"HELLO",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583680" y="53492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"characters": </a:t>
            </a:r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{…}, {…}, {…}, {…}, {…} ],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83680" y="55321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"num_chars_detected": </a:t>
            </a:r>
            <a:pPr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83680" y="57150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"avg_confidence": </a:t>
            </a:r>
            <a:pPr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0.94,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83680" y="58978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"model_used": </a:t>
            </a:r>
            <a:pPr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"EasyOCR"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583680" y="60807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26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13 · the loop · checkpoint · early stop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2560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76" y="18562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256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2560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459840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514704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20" y="18562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4704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514704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611984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666848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464" y="18562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66848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666848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764128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818992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185623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18992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3818992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916272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4971136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752" y="18562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71136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971136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068416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6123280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896" y="185623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232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6123280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7220560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7275424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2040" y="1856232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75424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7275424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8372704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8427568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4184" y="1856232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427568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8427568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9524848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9579712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6328" y="1856232"/>
            <a:ext cx="384048" cy="38404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579712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</a:t>
            </a:r>
            <a:endParaRPr lang="en-US" sz="950" dirty="0"/>
          </a:p>
        </p:txBody>
      </p:sp>
      <p:sp>
        <p:nvSpPr>
          <p:cNvPr id="49" name="Text 38"/>
          <p:cNvSpPr/>
          <p:nvPr/>
        </p:nvSpPr>
        <p:spPr>
          <a:xfrm>
            <a:off x="9579712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50" name="Shape 39"/>
          <p:cNvSpPr/>
          <p:nvPr/>
        </p:nvSpPr>
        <p:spPr>
          <a:xfrm>
            <a:off x="10676992" y="2240280"/>
            <a:ext cx="54864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1" name="Shape 40"/>
          <p:cNvSpPr/>
          <p:nvPr/>
        </p:nvSpPr>
        <p:spPr>
          <a:xfrm>
            <a:off x="10731856" y="1691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8472" y="1856232"/>
            <a:ext cx="384048" cy="38404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0731856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10731856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55" name="Shape 43"/>
          <p:cNvSpPr/>
          <p:nvPr/>
        </p:nvSpPr>
        <p:spPr>
          <a:xfrm>
            <a:off x="10128352" y="2788920"/>
            <a:ext cx="0" cy="274320"/>
          </a:xfrm>
          <a:prstGeom prst="line">
            <a:avLst/>
          </a:prstGeom>
          <a:noFill/>
          <a:ln w="15240">
            <a:solidFill>
              <a:srgbClr val="7B61FF"/>
            </a:solidFill>
            <a:prstDash val="dash"/>
          </a:ln>
        </p:spPr>
      </p:sp>
      <p:sp>
        <p:nvSpPr>
          <p:cNvPr id="56" name="Shape 44"/>
          <p:cNvSpPr/>
          <p:nvPr/>
        </p:nvSpPr>
        <p:spPr>
          <a:xfrm>
            <a:off x="2063344" y="3063240"/>
            <a:ext cx="8065008" cy="0"/>
          </a:xfrm>
          <a:prstGeom prst="line">
            <a:avLst/>
          </a:prstGeom>
          <a:noFill/>
          <a:ln w="15240">
            <a:solidFill>
              <a:srgbClr val="7B61FF"/>
            </a:solidFill>
            <a:prstDash val="dash"/>
          </a:ln>
        </p:spPr>
      </p:sp>
      <p:sp>
        <p:nvSpPr>
          <p:cNvPr id="57" name="Shape 45"/>
          <p:cNvSpPr/>
          <p:nvPr/>
        </p:nvSpPr>
        <p:spPr>
          <a:xfrm>
            <a:off x="2063344" y="2788920"/>
            <a:ext cx="0" cy="274320"/>
          </a:xfrm>
          <a:prstGeom prst="line">
            <a:avLst/>
          </a:prstGeom>
          <a:noFill/>
          <a:ln w="15240">
            <a:solidFill>
              <a:srgbClr val="7B61FF"/>
            </a:solidFill>
            <a:prstDash val="dash"/>
            <a:tailEnd type="triangle"/>
          </a:ln>
        </p:spPr>
      </p:sp>
      <p:sp>
        <p:nvSpPr>
          <p:cNvPr id="58" name="Text 46"/>
          <p:cNvSpPr/>
          <p:nvPr/>
        </p:nvSpPr>
        <p:spPr>
          <a:xfrm>
            <a:off x="36256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 per epoch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457200" y="361188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6858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HYPERPARAMETERS</a:t>
            </a:r>
            <a:endParaRPr lang="en-US" sz="1100" dirty="0"/>
          </a:p>
        </p:txBody>
      </p:sp>
      <p:sp>
        <p:nvSpPr>
          <p:cNvPr id="61" name="Text 49"/>
          <p:cNvSpPr/>
          <p:nvPr/>
        </p:nvSpPr>
        <p:spPr>
          <a:xfrm>
            <a:off x="777240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1100" dirty="0"/>
          </a:p>
        </p:txBody>
      </p:sp>
      <p:sp>
        <p:nvSpPr>
          <p:cNvPr id="62" name="Text 50"/>
          <p:cNvSpPr/>
          <p:nvPr/>
        </p:nvSpPr>
        <p:spPr>
          <a:xfrm>
            <a:off x="3017520" y="40690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CrossEntropyLoss(label_smoothing=0.1)</a:t>
            </a:r>
            <a:endParaRPr lang="en-US" sz="1100" dirty="0"/>
          </a:p>
        </p:txBody>
      </p:sp>
      <p:sp>
        <p:nvSpPr>
          <p:cNvPr id="63" name="Shape 51"/>
          <p:cNvSpPr/>
          <p:nvPr/>
        </p:nvSpPr>
        <p:spPr>
          <a:xfrm>
            <a:off x="777240" y="4398264"/>
            <a:ext cx="10835640" cy="4572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64" name="Text 52"/>
          <p:cNvSpPr/>
          <p:nvPr/>
        </p:nvSpPr>
        <p:spPr>
          <a:xfrm>
            <a:off x="777240" y="4434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65" name="Text 53"/>
          <p:cNvSpPr/>
          <p:nvPr/>
        </p:nvSpPr>
        <p:spPr>
          <a:xfrm>
            <a:off x="3017520" y="44348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(weight_decay=1e-4)</a:t>
            </a:r>
            <a:endParaRPr lang="en-US" sz="1100" dirty="0"/>
          </a:p>
        </p:txBody>
      </p:sp>
      <p:sp>
        <p:nvSpPr>
          <p:cNvPr id="66" name="Shape 54"/>
          <p:cNvSpPr/>
          <p:nvPr/>
        </p:nvSpPr>
        <p:spPr>
          <a:xfrm>
            <a:off x="777240" y="4764024"/>
            <a:ext cx="10835640" cy="4572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67" name="Text 55"/>
          <p:cNvSpPr/>
          <p:nvPr/>
        </p:nvSpPr>
        <p:spPr>
          <a:xfrm>
            <a:off x="777240" y="4800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68" name="Text 56"/>
          <p:cNvSpPr/>
          <p:nvPr/>
        </p:nvSpPr>
        <p:spPr>
          <a:xfrm>
            <a:off x="3017520" y="48006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CosineAnnealingLR (eta_min=1e-6)  ·  StepLR for MN-V2 phase 1</a:t>
            </a:r>
            <a:endParaRPr lang="en-US" sz="1100" dirty="0"/>
          </a:p>
        </p:txBody>
      </p:sp>
      <p:sp>
        <p:nvSpPr>
          <p:cNvPr id="69" name="Shape 57"/>
          <p:cNvSpPr/>
          <p:nvPr/>
        </p:nvSpPr>
        <p:spPr>
          <a:xfrm>
            <a:off x="777240" y="5129784"/>
            <a:ext cx="10835640" cy="4572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70" name="Text 58"/>
          <p:cNvSpPr/>
          <p:nvPr/>
        </p:nvSpPr>
        <p:spPr>
          <a:xfrm>
            <a:off x="777240" y="5166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71" name="Text 59"/>
          <p:cNvSpPr/>
          <p:nvPr/>
        </p:nvSpPr>
        <p:spPr>
          <a:xfrm>
            <a:off x="3017520" y="51663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(CNN)   ·   64 (MobileNetV2)</a:t>
            </a:r>
            <a:endParaRPr lang="en-US" sz="1100" dirty="0"/>
          </a:p>
        </p:txBody>
      </p:sp>
      <p:sp>
        <p:nvSpPr>
          <p:cNvPr id="72" name="Shape 60"/>
          <p:cNvSpPr/>
          <p:nvPr/>
        </p:nvSpPr>
        <p:spPr>
          <a:xfrm>
            <a:off x="777240" y="5495544"/>
            <a:ext cx="10835640" cy="4572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73" name="Text 61"/>
          <p:cNvSpPr/>
          <p:nvPr/>
        </p:nvSpPr>
        <p:spPr>
          <a:xfrm>
            <a:off x="777240" y="5532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100" dirty="0"/>
          </a:p>
        </p:txBody>
      </p:sp>
      <p:sp>
        <p:nvSpPr>
          <p:cNvPr id="74" name="Text 62"/>
          <p:cNvSpPr/>
          <p:nvPr/>
        </p:nvSpPr>
        <p:spPr>
          <a:xfrm>
            <a:off x="3017520" y="55321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CNN=30 + early stop (patience=7)   ·   MN-V2= 5 (head) + 20 (fine-tune)</a:t>
            </a:r>
            <a:endParaRPr lang="en-US" sz="1100" dirty="0"/>
          </a:p>
        </p:txBody>
      </p:sp>
      <p:sp>
        <p:nvSpPr>
          <p:cNvPr id="75" name="Shape 63"/>
          <p:cNvSpPr/>
          <p:nvPr/>
        </p:nvSpPr>
        <p:spPr>
          <a:xfrm>
            <a:off x="777240" y="5861304"/>
            <a:ext cx="10835640" cy="4572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76" name="Text 64"/>
          <p:cNvSpPr/>
          <p:nvPr/>
        </p:nvSpPr>
        <p:spPr>
          <a:xfrm>
            <a:off x="777240" y="5897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 ·  Device</a:t>
            </a:r>
            <a:endParaRPr lang="en-US" sz="1100" dirty="0"/>
          </a:p>
        </p:txBody>
      </p:sp>
      <p:sp>
        <p:nvSpPr>
          <p:cNvPr id="77" name="Text 65"/>
          <p:cNvSpPr/>
          <p:nvPr/>
        </p:nvSpPr>
        <p:spPr>
          <a:xfrm>
            <a:off x="3017520" y="58978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 ·   CUDA if available else CPU</a:t>
            </a:r>
            <a:endParaRPr lang="en-US" sz="1100" dirty="0"/>
          </a:p>
        </p:txBody>
      </p:sp>
      <p:sp>
        <p:nvSpPr>
          <p:cNvPr id="78" name="Shape 66"/>
          <p:cNvSpPr/>
          <p:nvPr/>
        </p:nvSpPr>
        <p:spPr>
          <a:xfrm>
            <a:off x="777240" y="6227064"/>
            <a:ext cx="10835640" cy="4572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79" name="Text 6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80" name="Text 6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26</a:t>
            </a:r>
            <a:endParaRPr lang="en-US" sz="900" dirty="0"/>
          </a:p>
        </p:txBody>
      </p:sp>
      <p:sp>
        <p:nvSpPr>
          <p:cNvPr id="81" name="Shape 69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· Character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14 · /predict-character  ·  PyTorch · MobileNetV2 (eval mode)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44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8" y="1417320"/>
            <a:ext cx="26060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8" name="Shape 6"/>
          <p:cNvSpPr/>
          <p:nvPr/>
        </p:nvSpPr>
        <p:spPr>
          <a:xfrm>
            <a:off x="792328" y="1600200"/>
            <a:ext cx="502920" cy="50292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79232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28" y="16459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32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232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→ Gateway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15488" y="230886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836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98368" y="1417320"/>
            <a:ext cx="2606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581248" y="1600200"/>
            <a:ext cx="502920" cy="5029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358124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8" y="16459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8124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124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→ Character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/predict-character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04408" y="230886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18728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87288" y="1417320"/>
            <a:ext cx="2606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370168" y="1600200"/>
            <a:ext cx="502920" cy="5029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5" name="Text 21"/>
          <p:cNvSpPr/>
          <p:nvPr/>
        </p:nvSpPr>
        <p:spPr>
          <a:xfrm>
            <a:off x="63701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968" y="16459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7016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37016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PIL.open → RGB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ImageOps.invert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793328" y="230886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897620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976208" y="1417320"/>
            <a:ext cx="2606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2" name="Shape 27"/>
          <p:cNvSpPr/>
          <p:nvPr/>
        </p:nvSpPr>
        <p:spPr>
          <a:xfrm>
            <a:off x="9159088" y="1600200"/>
            <a:ext cx="502920" cy="5029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3" name="Text 28"/>
          <p:cNvSpPr/>
          <p:nvPr/>
        </p:nvSpPr>
        <p:spPr>
          <a:xfrm>
            <a:off x="91590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7888" y="164592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5908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915908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Resize(224×224)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 · ImageNet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10279228" y="3200400"/>
            <a:ext cx="0" cy="1600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306928" y="3360420"/>
            <a:ext cx="697230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06928" y="3360420"/>
            <a:ext cx="0" cy="1600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2003908" y="3520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2003908" y="3520440"/>
            <a:ext cx="260604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2" name="Shape 36"/>
          <p:cNvSpPr/>
          <p:nvPr/>
        </p:nvSpPr>
        <p:spPr>
          <a:xfrm>
            <a:off x="2186788" y="3703320"/>
            <a:ext cx="502920" cy="5029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3" name="Text 37"/>
          <p:cNvSpPr/>
          <p:nvPr/>
        </p:nvSpPr>
        <p:spPr>
          <a:xfrm>
            <a:off x="2186788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5588" y="374904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2186788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2186788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MobileNetV2 (eval, no_grad)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pass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4609948" y="441198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4792828" y="3520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792828" y="3520440"/>
            <a:ext cx="260604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0" name="Shape 43"/>
          <p:cNvSpPr/>
          <p:nvPr/>
        </p:nvSpPr>
        <p:spPr>
          <a:xfrm>
            <a:off x="4975708" y="3703320"/>
            <a:ext cx="502920" cy="5029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51" name="Text 44"/>
          <p:cNvSpPr/>
          <p:nvPr/>
        </p:nvSpPr>
        <p:spPr>
          <a:xfrm>
            <a:off x="4975708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508" y="3749040"/>
            <a:ext cx="365760" cy="36576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4975708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Postprocess</a:t>
            </a:r>
            <a:endParaRPr lang="en-US" sz="1400" dirty="0"/>
          </a:p>
        </p:txBody>
      </p:sp>
      <p:sp>
        <p:nvSpPr>
          <p:cNvPr id="54" name="Text 46"/>
          <p:cNvSpPr/>
          <p:nvPr/>
        </p:nvSpPr>
        <p:spPr>
          <a:xfrm>
            <a:off x="4975708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 → Top-3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→ A–Z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7398868" y="441198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6" name="Shape 48"/>
          <p:cNvSpPr/>
          <p:nvPr/>
        </p:nvSpPr>
        <p:spPr>
          <a:xfrm>
            <a:off x="7581748" y="3520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7581748" y="3520440"/>
            <a:ext cx="2606040" cy="5486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58" name="Shape 50"/>
          <p:cNvSpPr/>
          <p:nvPr/>
        </p:nvSpPr>
        <p:spPr>
          <a:xfrm>
            <a:off x="7764628" y="3703320"/>
            <a:ext cx="502920" cy="50292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59" name="Text 51"/>
          <p:cNvSpPr/>
          <p:nvPr/>
        </p:nvSpPr>
        <p:spPr>
          <a:xfrm>
            <a:off x="7764628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3428" y="3749040"/>
            <a:ext cx="365760" cy="36576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7764628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62" name="Text 53"/>
          <p:cNvSpPr/>
          <p:nvPr/>
        </p:nvSpPr>
        <p:spPr>
          <a:xfrm>
            <a:off x="7764628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response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AMQP publish</a:t>
            </a:r>
            <a:endParaRPr lang="en-US" sz="950" dirty="0"/>
          </a:p>
        </p:txBody>
      </p:sp>
      <p:sp>
        <p:nvSpPr>
          <p:cNvPr id="63" name="Shape 54"/>
          <p:cNvSpPr/>
          <p:nvPr/>
        </p:nvSpPr>
        <p:spPr>
          <a:xfrm>
            <a:off x="457200" y="544068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060818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64008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"character"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"confidence"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0.987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"top_k"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 </a:t>
            </a:r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{"R":0.987}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{"K":0.008}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{"P":0.003}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 }</a:t>
            </a:r>
            <a:endParaRPr lang="en-US" sz="1100" dirty="0"/>
          </a:p>
        </p:txBody>
      </p:sp>
      <p:sp>
        <p:nvSpPr>
          <p:cNvPr id="66" name="Text 5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26</a:t>
            </a:r>
            <a:endParaRPr lang="en-US" sz="900" dirty="0"/>
          </a:p>
        </p:txBody>
      </p:sp>
      <p:sp>
        <p:nvSpPr>
          <p:cNvPr id="68" name="Shape 59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· Word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 · /predict-word  ·  EasyOCR (CRAFT + CRNN)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44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8" y="1417320"/>
            <a:ext cx="26060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8" name="Shape 6"/>
          <p:cNvSpPr/>
          <p:nvPr/>
        </p:nvSpPr>
        <p:spPr>
          <a:xfrm>
            <a:off x="792328" y="1600200"/>
            <a:ext cx="502920" cy="50292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79232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28" y="16459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32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232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→ Gateway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/predict-word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15488" y="230886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836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98368" y="1417320"/>
            <a:ext cx="2606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581248" y="1600200"/>
            <a:ext cx="502920" cy="5029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358124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8" y="16459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8124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124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→ 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/predict-word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04408" y="230886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18728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87288" y="1417320"/>
            <a:ext cx="2606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370168" y="1600200"/>
            <a:ext cx="502920" cy="5029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5" name="Text 21"/>
          <p:cNvSpPr/>
          <p:nvPr/>
        </p:nvSpPr>
        <p:spPr>
          <a:xfrm>
            <a:off x="63701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968" y="16459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7016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37016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 → RGB → np.array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793328" y="230886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8976208" y="141732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976208" y="1417320"/>
            <a:ext cx="260604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2" name="Shape 27"/>
          <p:cNvSpPr/>
          <p:nvPr/>
        </p:nvSpPr>
        <p:spPr>
          <a:xfrm>
            <a:off x="9159088" y="1600200"/>
            <a:ext cx="502920" cy="5029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3" name="Text 28"/>
          <p:cNvSpPr/>
          <p:nvPr/>
        </p:nvSpPr>
        <p:spPr>
          <a:xfrm>
            <a:off x="91590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7888" y="164592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5908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915908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Reader(["en"]).readtext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detail=1, paragraph=False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10279228" y="3200400"/>
            <a:ext cx="0" cy="1600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306928" y="3360420"/>
            <a:ext cx="697230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06928" y="3360420"/>
            <a:ext cx="0" cy="16002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2003908" y="3520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2003908" y="3520440"/>
            <a:ext cx="260604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2" name="Shape 36"/>
          <p:cNvSpPr/>
          <p:nvPr/>
        </p:nvSpPr>
        <p:spPr>
          <a:xfrm>
            <a:off x="2186788" y="3703320"/>
            <a:ext cx="502920" cy="5029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3" name="Text 37"/>
          <p:cNvSpPr/>
          <p:nvPr/>
        </p:nvSpPr>
        <p:spPr>
          <a:xfrm>
            <a:off x="2186788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5588" y="374904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2186788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2186788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 strings · UPPER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confidence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4609948" y="441198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4792828" y="3520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792828" y="3520440"/>
            <a:ext cx="260604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0" name="Shape 43"/>
          <p:cNvSpPr/>
          <p:nvPr/>
        </p:nvSpPr>
        <p:spPr>
          <a:xfrm>
            <a:off x="4975708" y="3703320"/>
            <a:ext cx="502920" cy="5029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51" name="Text 44"/>
          <p:cNvSpPr/>
          <p:nvPr/>
        </p:nvSpPr>
        <p:spPr>
          <a:xfrm>
            <a:off x="4975708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508" y="3749040"/>
            <a:ext cx="365760" cy="36576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4975708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</a:t>
            </a:r>
            <a:endParaRPr lang="en-US" sz="1400" dirty="0"/>
          </a:p>
        </p:txBody>
      </p:sp>
      <p:sp>
        <p:nvSpPr>
          <p:cNvPr id="54" name="Text 46"/>
          <p:cNvSpPr/>
          <p:nvPr/>
        </p:nvSpPr>
        <p:spPr>
          <a:xfrm>
            <a:off x="4975708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characters[]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confidence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7398868" y="4411980"/>
            <a:ext cx="18288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56" name="Shape 48"/>
          <p:cNvSpPr/>
          <p:nvPr/>
        </p:nvSpPr>
        <p:spPr>
          <a:xfrm>
            <a:off x="7581748" y="3520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7581748" y="3520440"/>
            <a:ext cx="2606040" cy="5486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58" name="Shape 50"/>
          <p:cNvSpPr/>
          <p:nvPr/>
        </p:nvSpPr>
        <p:spPr>
          <a:xfrm>
            <a:off x="7764628" y="3703320"/>
            <a:ext cx="502920" cy="50292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59" name="Text 51"/>
          <p:cNvSpPr/>
          <p:nvPr/>
        </p:nvSpPr>
        <p:spPr>
          <a:xfrm>
            <a:off x="7764628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3428" y="3749040"/>
            <a:ext cx="365760" cy="36576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7764628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62" name="Text 53"/>
          <p:cNvSpPr/>
          <p:nvPr/>
        </p:nvSpPr>
        <p:spPr>
          <a:xfrm>
            <a:off x="7764628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response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AMQP publish</a:t>
            </a:r>
            <a:endParaRPr lang="en-US" sz="950" dirty="0"/>
          </a:p>
        </p:txBody>
      </p:sp>
      <p:sp>
        <p:nvSpPr>
          <p:cNvPr id="63" name="Shape 54"/>
          <p:cNvSpPr/>
          <p:nvPr/>
        </p:nvSpPr>
        <p:spPr>
          <a:xfrm>
            <a:off x="457200" y="544068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060818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64008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"predicted_word"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"num_chars_detected"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"avg_confidence"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"model_used"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"EasyOCR"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00" dirty="0"/>
          </a:p>
        </p:txBody>
      </p:sp>
      <p:sp>
        <p:nvSpPr>
          <p:cNvPr id="66" name="Text 5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26</a:t>
            </a:r>
            <a:endParaRPr lang="en-US" sz="900" dirty="0"/>
          </a:p>
        </p:txBody>
      </p:sp>
      <p:sp>
        <p:nvSpPr>
          <p:cNvPr id="68" name="Shape 59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16 · metrics · diagnostics · target ≥ 90% test acc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45720" cy="7772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accuracy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number on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3246120"/>
            <a:ext cx="45720" cy="7772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26-bin breakdown — surfaces weak classes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4206240"/>
            <a:ext cx="45720" cy="7772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classification_report(digits=4)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" y="5166360"/>
            <a:ext cx="45720" cy="7772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5532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counts AND row-normalized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99632" y="1417320"/>
            <a:ext cx="5532120" cy="3520440"/>
          </a:xfrm>
          <a:prstGeom prst="roundRect">
            <a:avLst>
              <a:gd name="adj" fmla="val 2597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4592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9516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 CHARTS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46520" y="2377440"/>
            <a:ext cx="118872" cy="11887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2286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675120" y="2578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· acc · lr (per epoch)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46520" y="3017520"/>
            <a:ext cx="118872" cy="11887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8" name="Text 24"/>
          <p:cNvSpPr/>
          <p:nvPr/>
        </p:nvSpPr>
        <p:spPr>
          <a:xfrm>
            <a:off x="6675120" y="2926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 bar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675120" y="3218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🚩 red flag if any class &lt; 99%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446520" y="3657600"/>
            <a:ext cx="118872" cy="11887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confused pairs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675120" y="3858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off-diagonal counts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446520" y="4297680"/>
            <a:ext cx="118872" cy="11887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34" name="Text 30"/>
          <p:cNvSpPr/>
          <p:nvPr/>
        </p:nvSpPr>
        <p:spPr>
          <a:xfrm>
            <a:off x="6675120" y="4206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grid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6675120" y="4498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= correct · red = wrong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99632" y="5074920"/>
            <a:ext cx="5532120" cy="1280160"/>
          </a:xfrm>
          <a:prstGeom prst="roundRect">
            <a:avLst>
              <a:gd name="adj" fmla="val 7143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4652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446520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4800" dirty="0"/>
          </a:p>
        </p:txBody>
      </p:sp>
      <p:sp>
        <p:nvSpPr>
          <p:cNvPr id="39" name="Text 35"/>
          <p:cNvSpPr/>
          <p:nvPr/>
        </p:nvSpPr>
        <p:spPr>
          <a:xfrm>
            <a:off x="873252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732520" y="5760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A–Z handwritten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 (held-out)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26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17 · model comparison · winner · diagnostics thumbnails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4552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COMPARISON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Val Acc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897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Acc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194560"/>
            <a:ext cx="10972800" cy="18288"/>
          </a:xfrm>
          <a:prstGeom prst="rect">
            <a:avLst/>
          </a:prstGeom>
          <a:solidFill>
            <a:srgbClr val="00D9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~[insert]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[insert]%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897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[insert]%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2944368"/>
            <a:ext cx="10972800" cy="594360"/>
          </a:xfrm>
          <a:prstGeom prst="roundRect">
            <a:avLst>
              <a:gd name="adj" fmla="val 9231"/>
            </a:avLst>
          </a:prstGeom>
          <a:solidFill>
            <a:srgbClr val="00D9FF">
              <a:alpha val="12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fine-tuned   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~3.5M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[insert]%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[insert]%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numbers in [insert] = pulled from final training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1274552" cy="502920"/>
          </a:xfrm>
          <a:prstGeom prst="roundRect">
            <a:avLst>
              <a:gd name="adj" fmla="val 18182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58768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 ·  MobileNetV2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29200" y="38404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exported as ocr_model.pth  ·  ~11.8 MB  ·  loaded by character service via volume mount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434840"/>
            <a:ext cx="3703320" cy="1920240"/>
          </a:xfrm>
          <a:prstGeom prst="roundRect">
            <a:avLst>
              <a:gd name="adj" fmla="val 4762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curves  ·  loss / acc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6245352"/>
            <a:ext cx="3337560" cy="18288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31" name="Shape 28"/>
          <p:cNvSpPr/>
          <p:nvPr/>
        </p:nvSpPr>
        <p:spPr>
          <a:xfrm>
            <a:off x="640080" y="4846320"/>
            <a:ext cx="18288" cy="141732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6217920"/>
            <a:ext cx="162306" cy="-91874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8106" y="6126046"/>
            <a:ext cx="162306" cy="-89959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0412" y="6036087"/>
            <a:ext cx="162306" cy="-87981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72718" y="5948105"/>
            <a:ext cx="162306" cy="-85935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335024" y="5862171"/>
            <a:ext cx="162306" cy="-83812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497330" y="5778359"/>
            <a:ext cx="162306" cy="-81605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59636" y="5696754"/>
            <a:ext cx="162306" cy="-79305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821942" y="5617449"/>
            <a:ext cx="162306" cy="-76900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84248" y="5540549"/>
            <a:ext cx="162306" cy="-74377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146554" y="5466172"/>
            <a:ext cx="162306" cy="-71718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08860" y="5394455"/>
            <a:ext cx="162306" cy="-68902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471166" y="5325553"/>
            <a:ext cx="162306" cy="-65902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633472" y="5259651"/>
            <a:ext cx="162306" cy="-62681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95778" y="5196970"/>
            <a:ext cx="162306" cy="-59191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958084" y="5137779"/>
            <a:ext cx="162306" cy="-55359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120390" y="5082420"/>
            <a:ext cx="162306" cy="-51081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82696" y="5031338"/>
            <a:ext cx="162306" cy="-46181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445002" y="4985158"/>
            <a:ext cx="162306" cy="-40333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607308" y="4944824"/>
            <a:ext cx="162306" cy="-32783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769614" y="4912041"/>
            <a:ext cx="162306" cy="-20001"/>
          </a:xfrm>
          <a:prstGeom prst="line">
            <a:avLst/>
          </a:prstGeom>
          <a:noFill/>
          <a:ln w="20320">
            <a:solidFill>
              <a:srgbClr val="FF4D6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85800" y="5820156"/>
            <a:ext cx="162306" cy="-142823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48106" y="5677333"/>
            <a:ext cx="162306" cy="-73656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10412" y="5603676"/>
            <a:ext cx="162306" cy="-59624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72718" y="5544052"/>
            <a:ext cx="162306" cy="-52018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335024" y="5492034"/>
            <a:ext cx="162306" cy="-47008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497330" y="5445026"/>
            <a:ext cx="162306" cy="-43365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659636" y="5401661"/>
            <a:ext cx="162306" cy="-40553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821942" y="5361108"/>
            <a:ext cx="162306" cy="-38292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984248" y="5322816"/>
            <a:ext cx="162306" cy="-36419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146554" y="5286397"/>
            <a:ext cx="162306" cy="-34832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308860" y="5251566"/>
            <a:ext cx="162306" cy="-33463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471166" y="5218102"/>
            <a:ext cx="162306" cy="-32266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633472" y="5185836"/>
            <a:ext cx="162306" cy="-31207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95778" y="5154629"/>
            <a:ext cx="162306" cy="-30260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958084" y="5124369"/>
            <a:ext cx="162306" cy="-29407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120390" y="5094962"/>
            <a:ext cx="162306" cy="-28633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282696" y="5066329"/>
            <a:ext cx="162306" cy="-27925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445002" y="5038404"/>
            <a:ext cx="162306" cy="-27275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607308" y="5011129"/>
            <a:ext cx="162306" cy="-26675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769614" y="4984453"/>
            <a:ext cx="162306" cy="-26119"/>
          </a:xfrm>
          <a:prstGeom prst="line">
            <a:avLst/>
          </a:prstGeom>
          <a:noFill/>
          <a:ln w="20320">
            <a:solidFill>
              <a:srgbClr val="00FFA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0632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loss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6118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acc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242816" y="4434840"/>
            <a:ext cx="3703320" cy="1920240"/>
          </a:xfrm>
          <a:prstGeom prst="roundRect">
            <a:avLst>
              <a:gd name="adj" fmla="val 4762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425696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 matrix  ·  row-normalized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448556" y="4869180"/>
            <a:ext cx="260604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4722876" y="48691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4997196" y="48691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5271516" y="48691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5545836" y="48691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5820156" y="48691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82" name="Shape 79"/>
          <p:cNvSpPr/>
          <p:nvPr/>
        </p:nvSpPr>
        <p:spPr>
          <a:xfrm>
            <a:off x="6094476" y="48691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83" name="Shape 80"/>
          <p:cNvSpPr/>
          <p:nvPr/>
        </p:nvSpPr>
        <p:spPr>
          <a:xfrm>
            <a:off x="6368796" y="48691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6643116" y="48691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85" name="Shape 82"/>
          <p:cNvSpPr/>
          <p:nvPr/>
        </p:nvSpPr>
        <p:spPr>
          <a:xfrm>
            <a:off x="6917436" y="48691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86" name="Shape 83"/>
          <p:cNvSpPr/>
          <p:nvPr/>
        </p:nvSpPr>
        <p:spPr>
          <a:xfrm>
            <a:off x="7191756" y="48691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7466076" y="48691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4448556" y="49834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89" name="Shape 86"/>
          <p:cNvSpPr/>
          <p:nvPr/>
        </p:nvSpPr>
        <p:spPr>
          <a:xfrm>
            <a:off x="4722876" y="4983480"/>
            <a:ext cx="260604" cy="108585"/>
          </a:xfrm>
          <a:prstGeom prst="rect">
            <a:avLst/>
          </a:prstGeom>
          <a:solidFill>
            <a:srgbClr val="00D9FF">
              <a:alpha val="86000"/>
            </a:srgbClr>
          </a:solidFill>
          <a:ln/>
        </p:spPr>
      </p:sp>
      <p:sp>
        <p:nvSpPr>
          <p:cNvPr id="90" name="Shape 87"/>
          <p:cNvSpPr/>
          <p:nvPr/>
        </p:nvSpPr>
        <p:spPr>
          <a:xfrm>
            <a:off x="4997196" y="49834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91" name="Shape 88"/>
          <p:cNvSpPr/>
          <p:nvPr/>
        </p:nvSpPr>
        <p:spPr>
          <a:xfrm>
            <a:off x="5271516" y="49834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5545836" y="49834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93" name="Shape 90"/>
          <p:cNvSpPr/>
          <p:nvPr/>
        </p:nvSpPr>
        <p:spPr>
          <a:xfrm>
            <a:off x="5820156" y="49834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94" name="Shape 91"/>
          <p:cNvSpPr/>
          <p:nvPr/>
        </p:nvSpPr>
        <p:spPr>
          <a:xfrm>
            <a:off x="6094476" y="49834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95" name="Shape 92"/>
          <p:cNvSpPr/>
          <p:nvPr/>
        </p:nvSpPr>
        <p:spPr>
          <a:xfrm>
            <a:off x="6368796" y="49834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6643116" y="49834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6917436" y="49834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98" name="Shape 95"/>
          <p:cNvSpPr/>
          <p:nvPr/>
        </p:nvSpPr>
        <p:spPr>
          <a:xfrm>
            <a:off x="7191756" y="49834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7466076" y="4983480"/>
            <a:ext cx="260604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00" name="Shape 97"/>
          <p:cNvSpPr/>
          <p:nvPr/>
        </p:nvSpPr>
        <p:spPr>
          <a:xfrm>
            <a:off x="4448556" y="50977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01" name="Shape 98"/>
          <p:cNvSpPr/>
          <p:nvPr/>
        </p:nvSpPr>
        <p:spPr>
          <a:xfrm>
            <a:off x="4722876" y="50977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02" name="Shape 99"/>
          <p:cNvSpPr/>
          <p:nvPr/>
        </p:nvSpPr>
        <p:spPr>
          <a:xfrm>
            <a:off x="4997196" y="5097780"/>
            <a:ext cx="260604" cy="108585"/>
          </a:xfrm>
          <a:prstGeom prst="rect">
            <a:avLst/>
          </a:prstGeom>
          <a:solidFill>
            <a:srgbClr val="00D9FF">
              <a:alpha val="94000"/>
            </a:srgbClr>
          </a:solidFill>
          <a:ln/>
        </p:spPr>
      </p:sp>
      <p:sp>
        <p:nvSpPr>
          <p:cNvPr id="103" name="Shape 100"/>
          <p:cNvSpPr/>
          <p:nvPr/>
        </p:nvSpPr>
        <p:spPr>
          <a:xfrm>
            <a:off x="5271516" y="50977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04" name="Shape 101"/>
          <p:cNvSpPr/>
          <p:nvPr/>
        </p:nvSpPr>
        <p:spPr>
          <a:xfrm>
            <a:off x="5545836" y="50977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05" name="Shape 102"/>
          <p:cNvSpPr/>
          <p:nvPr/>
        </p:nvSpPr>
        <p:spPr>
          <a:xfrm>
            <a:off x="5820156" y="50977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06" name="Shape 103"/>
          <p:cNvSpPr/>
          <p:nvPr/>
        </p:nvSpPr>
        <p:spPr>
          <a:xfrm>
            <a:off x="6094476" y="50977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07" name="Shape 104"/>
          <p:cNvSpPr/>
          <p:nvPr/>
        </p:nvSpPr>
        <p:spPr>
          <a:xfrm>
            <a:off x="6368796" y="5097780"/>
            <a:ext cx="260604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08" name="Shape 105"/>
          <p:cNvSpPr/>
          <p:nvPr/>
        </p:nvSpPr>
        <p:spPr>
          <a:xfrm>
            <a:off x="6643116" y="50977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09" name="Shape 106"/>
          <p:cNvSpPr/>
          <p:nvPr/>
        </p:nvSpPr>
        <p:spPr>
          <a:xfrm>
            <a:off x="6917436" y="50977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10" name="Shape 107"/>
          <p:cNvSpPr/>
          <p:nvPr/>
        </p:nvSpPr>
        <p:spPr>
          <a:xfrm>
            <a:off x="7191756" y="50977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11" name="Shape 108"/>
          <p:cNvSpPr/>
          <p:nvPr/>
        </p:nvSpPr>
        <p:spPr>
          <a:xfrm>
            <a:off x="7466076" y="50977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12" name="Shape 109"/>
          <p:cNvSpPr/>
          <p:nvPr/>
        </p:nvSpPr>
        <p:spPr>
          <a:xfrm>
            <a:off x="4448556" y="52120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4722876" y="52120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14" name="Shape 111"/>
          <p:cNvSpPr/>
          <p:nvPr/>
        </p:nvSpPr>
        <p:spPr>
          <a:xfrm>
            <a:off x="4997196" y="52120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15" name="Shape 112"/>
          <p:cNvSpPr/>
          <p:nvPr/>
        </p:nvSpPr>
        <p:spPr>
          <a:xfrm>
            <a:off x="5271516" y="5212080"/>
            <a:ext cx="260604" cy="108585"/>
          </a:xfrm>
          <a:prstGeom prst="rect">
            <a:avLst/>
          </a:prstGeom>
          <a:solidFill>
            <a:srgbClr val="00D9FF">
              <a:alpha val="95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5545836" y="52120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17" name="Shape 114"/>
          <p:cNvSpPr/>
          <p:nvPr/>
        </p:nvSpPr>
        <p:spPr>
          <a:xfrm>
            <a:off x="5820156" y="52120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18" name="Shape 115"/>
          <p:cNvSpPr/>
          <p:nvPr/>
        </p:nvSpPr>
        <p:spPr>
          <a:xfrm>
            <a:off x="6094476" y="52120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19" name="Shape 116"/>
          <p:cNvSpPr/>
          <p:nvPr/>
        </p:nvSpPr>
        <p:spPr>
          <a:xfrm>
            <a:off x="6368796" y="52120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20" name="Shape 117"/>
          <p:cNvSpPr/>
          <p:nvPr/>
        </p:nvSpPr>
        <p:spPr>
          <a:xfrm>
            <a:off x="6643116" y="52120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21" name="Shape 118"/>
          <p:cNvSpPr/>
          <p:nvPr/>
        </p:nvSpPr>
        <p:spPr>
          <a:xfrm>
            <a:off x="6917436" y="52120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22" name="Shape 119"/>
          <p:cNvSpPr/>
          <p:nvPr/>
        </p:nvSpPr>
        <p:spPr>
          <a:xfrm>
            <a:off x="7191756" y="52120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23" name="Shape 120"/>
          <p:cNvSpPr/>
          <p:nvPr/>
        </p:nvSpPr>
        <p:spPr>
          <a:xfrm>
            <a:off x="7466076" y="52120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24" name="Shape 121"/>
          <p:cNvSpPr/>
          <p:nvPr/>
        </p:nvSpPr>
        <p:spPr>
          <a:xfrm>
            <a:off x="4448556" y="53263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25" name="Shape 122"/>
          <p:cNvSpPr/>
          <p:nvPr/>
        </p:nvSpPr>
        <p:spPr>
          <a:xfrm>
            <a:off x="4722876" y="53263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26" name="Shape 123"/>
          <p:cNvSpPr/>
          <p:nvPr/>
        </p:nvSpPr>
        <p:spPr>
          <a:xfrm>
            <a:off x="4997196" y="53263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27" name="Shape 124"/>
          <p:cNvSpPr/>
          <p:nvPr/>
        </p:nvSpPr>
        <p:spPr>
          <a:xfrm>
            <a:off x="5271516" y="53263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28" name="Shape 125"/>
          <p:cNvSpPr/>
          <p:nvPr/>
        </p:nvSpPr>
        <p:spPr>
          <a:xfrm>
            <a:off x="5545836" y="5326380"/>
            <a:ext cx="260604" cy="108585"/>
          </a:xfrm>
          <a:prstGeom prst="rect">
            <a:avLst/>
          </a:prstGeom>
          <a:solidFill>
            <a:srgbClr val="00D9FF">
              <a:alpha val="94000"/>
            </a:srgbClr>
          </a:solidFill>
          <a:ln/>
        </p:spPr>
      </p:sp>
      <p:sp>
        <p:nvSpPr>
          <p:cNvPr id="129" name="Shape 126"/>
          <p:cNvSpPr/>
          <p:nvPr/>
        </p:nvSpPr>
        <p:spPr>
          <a:xfrm>
            <a:off x="5820156" y="53263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30" name="Shape 127"/>
          <p:cNvSpPr/>
          <p:nvPr/>
        </p:nvSpPr>
        <p:spPr>
          <a:xfrm>
            <a:off x="6094476" y="53263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31" name="Shape 128"/>
          <p:cNvSpPr/>
          <p:nvPr/>
        </p:nvSpPr>
        <p:spPr>
          <a:xfrm>
            <a:off x="6368796" y="53263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32" name="Shape 129"/>
          <p:cNvSpPr/>
          <p:nvPr/>
        </p:nvSpPr>
        <p:spPr>
          <a:xfrm>
            <a:off x="6643116" y="53263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33" name="Shape 130"/>
          <p:cNvSpPr/>
          <p:nvPr/>
        </p:nvSpPr>
        <p:spPr>
          <a:xfrm>
            <a:off x="6917436" y="53263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34" name="Shape 131"/>
          <p:cNvSpPr/>
          <p:nvPr/>
        </p:nvSpPr>
        <p:spPr>
          <a:xfrm>
            <a:off x="7191756" y="53263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35" name="Shape 132"/>
          <p:cNvSpPr/>
          <p:nvPr/>
        </p:nvSpPr>
        <p:spPr>
          <a:xfrm>
            <a:off x="7466076" y="53263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36" name="Shape 133"/>
          <p:cNvSpPr/>
          <p:nvPr/>
        </p:nvSpPr>
        <p:spPr>
          <a:xfrm>
            <a:off x="4448556" y="54406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37" name="Shape 134"/>
          <p:cNvSpPr/>
          <p:nvPr/>
        </p:nvSpPr>
        <p:spPr>
          <a:xfrm>
            <a:off x="4722876" y="54406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38" name="Shape 135"/>
          <p:cNvSpPr/>
          <p:nvPr/>
        </p:nvSpPr>
        <p:spPr>
          <a:xfrm>
            <a:off x="4997196" y="54406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39" name="Shape 136"/>
          <p:cNvSpPr/>
          <p:nvPr/>
        </p:nvSpPr>
        <p:spPr>
          <a:xfrm>
            <a:off x="5271516" y="54406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40" name="Shape 137"/>
          <p:cNvSpPr/>
          <p:nvPr/>
        </p:nvSpPr>
        <p:spPr>
          <a:xfrm>
            <a:off x="5545836" y="54406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41" name="Shape 138"/>
          <p:cNvSpPr/>
          <p:nvPr/>
        </p:nvSpPr>
        <p:spPr>
          <a:xfrm>
            <a:off x="5820156" y="5440680"/>
            <a:ext cx="260604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142" name="Shape 139"/>
          <p:cNvSpPr/>
          <p:nvPr/>
        </p:nvSpPr>
        <p:spPr>
          <a:xfrm>
            <a:off x="6094476" y="54406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43" name="Shape 140"/>
          <p:cNvSpPr/>
          <p:nvPr/>
        </p:nvSpPr>
        <p:spPr>
          <a:xfrm>
            <a:off x="6368796" y="54406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44" name="Shape 141"/>
          <p:cNvSpPr/>
          <p:nvPr/>
        </p:nvSpPr>
        <p:spPr>
          <a:xfrm>
            <a:off x="6643116" y="54406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45" name="Shape 142"/>
          <p:cNvSpPr/>
          <p:nvPr/>
        </p:nvSpPr>
        <p:spPr>
          <a:xfrm>
            <a:off x="6917436" y="54406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46" name="Shape 143"/>
          <p:cNvSpPr/>
          <p:nvPr/>
        </p:nvSpPr>
        <p:spPr>
          <a:xfrm>
            <a:off x="7191756" y="54406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47" name="Shape 144"/>
          <p:cNvSpPr/>
          <p:nvPr/>
        </p:nvSpPr>
        <p:spPr>
          <a:xfrm>
            <a:off x="7466076" y="54406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48" name="Shape 145"/>
          <p:cNvSpPr/>
          <p:nvPr/>
        </p:nvSpPr>
        <p:spPr>
          <a:xfrm>
            <a:off x="4448556" y="55549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49" name="Shape 146"/>
          <p:cNvSpPr/>
          <p:nvPr/>
        </p:nvSpPr>
        <p:spPr>
          <a:xfrm>
            <a:off x="4722876" y="55549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50" name="Shape 147"/>
          <p:cNvSpPr/>
          <p:nvPr/>
        </p:nvSpPr>
        <p:spPr>
          <a:xfrm>
            <a:off x="4997196" y="55549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51" name="Shape 148"/>
          <p:cNvSpPr/>
          <p:nvPr/>
        </p:nvSpPr>
        <p:spPr>
          <a:xfrm>
            <a:off x="5271516" y="55549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52" name="Shape 149"/>
          <p:cNvSpPr/>
          <p:nvPr/>
        </p:nvSpPr>
        <p:spPr>
          <a:xfrm>
            <a:off x="5545836" y="55549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53" name="Shape 150"/>
          <p:cNvSpPr/>
          <p:nvPr/>
        </p:nvSpPr>
        <p:spPr>
          <a:xfrm>
            <a:off x="5820156" y="55549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54" name="Shape 151"/>
          <p:cNvSpPr/>
          <p:nvPr/>
        </p:nvSpPr>
        <p:spPr>
          <a:xfrm>
            <a:off x="6094476" y="5554980"/>
            <a:ext cx="260604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155" name="Shape 152"/>
          <p:cNvSpPr/>
          <p:nvPr/>
        </p:nvSpPr>
        <p:spPr>
          <a:xfrm>
            <a:off x="6368796" y="55549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56" name="Shape 153"/>
          <p:cNvSpPr/>
          <p:nvPr/>
        </p:nvSpPr>
        <p:spPr>
          <a:xfrm>
            <a:off x="6643116" y="55549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57" name="Shape 154"/>
          <p:cNvSpPr/>
          <p:nvPr/>
        </p:nvSpPr>
        <p:spPr>
          <a:xfrm>
            <a:off x="6917436" y="55549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58" name="Shape 155"/>
          <p:cNvSpPr/>
          <p:nvPr/>
        </p:nvSpPr>
        <p:spPr>
          <a:xfrm>
            <a:off x="7191756" y="55549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59" name="Shape 156"/>
          <p:cNvSpPr/>
          <p:nvPr/>
        </p:nvSpPr>
        <p:spPr>
          <a:xfrm>
            <a:off x="7466076" y="55549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60" name="Shape 157"/>
          <p:cNvSpPr/>
          <p:nvPr/>
        </p:nvSpPr>
        <p:spPr>
          <a:xfrm>
            <a:off x="4448556" y="56692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1" name="Shape 158"/>
          <p:cNvSpPr/>
          <p:nvPr/>
        </p:nvSpPr>
        <p:spPr>
          <a:xfrm>
            <a:off x="4722876" y="56692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62" name="Shape 159"/>
          <p:cNvSpPr/>
          <p:nvPr/>
        </p:nvSpPr>
        <p:spPr>
          <a:xfrm>
            <a:off x="4997196" y="56692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3" name="Shape 160"/>
          <p:cNvSpPr/>
          <p:nvPr/>
        </p:nvSpPr>
        <p:spPr>
          <a:xfrm>
            <a:off x="5271516" y="56692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4" name="Shape 161"/>
          <p:cNvSpPr/>
          <p:nvPr/>
        </p:nvSpPr>
        <p:spPr>
          <a:xfrm>
            <a:off x="5545836" y="56692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65" name="Shape 162"/>
          <p:cNvSpPr/>
          <p:nvPr/>
        </p:nvSpPr>
        <p:spPr>
          <a:xfrm>
            <a:off x="5820156" y="5669280"/>
            <a:ext cx="260604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66" name="Shape 163"/>
          <p:cNvSpPr/>
          <p:nvPr/>
        </p:nvSpPr>
        <p:spPr>
          <a:xfrm>
            <a:off x="6094476" y="56692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67" name="Shape 164"/>
          <p:cNvSpPr/>
          <p:nvPr/>
        </p:nvSpPr>
        <p:spPr>
          <a:xfrm>
            <a:off x="6368796" y="5669280"/>
            <a:ext cx="260604" cy="108585"/>
          </a:xfrm>
          <a:prstGeom prst="rect">
            <a:avLst/>
          </a:prstGeom>
          <a:solidFill>
            <a:srgbClr val="00D9FF">
              <a:alpha val="87000"/>
            </a:srgbClr>
          </a:solidFill>
          <a:ln/>
        </p:spPr>
      </p:sp>
      <p:sp>
        <p:nvSpPr>
          <p:cNvPr id="168" name="Shape 165"/>
          <p:cNvSpPr/>
          <p:nvPr/>
        </p:nvSpPr>
        <p:spPr>
          <a:xfrm>
            <a:off x="6643116" y="56692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69" name="Shape 166"/>
          <p:cNvSpPr/>
          <p:nvPr/>
        </p:nvSpPr>
        <p:spPr>
          <a:xfrm>
            <a:off x="6917436" y="56692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70" name="Shape 167"/>
          <p:cNvSpPr/>
          <p:nvPr/>
        </p:nvSpPr>
        <p:spPr>
          <a:xfrm>
            <a:off x="7191756" y="56692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71" name="Shape 168"/>
          <p:cNvSpPr/>
          <p:nvPr/>
        </p:nvSpPr>
        <p:spPr>
          <a:xfrm>
            <a:off x="7466076" y="56692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72" name="Shape 169"/>
          <p:cNvSpPr/>
          <p:nvPr/>
        </p:nvSpPr>
        <p:spPr>
          <a:xfrm>
            <a:off x="4448556" y="57835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73" name="Shape 170"/>
          <p:cNvSpPr/>
          <p:nvPr/>
        </p:nvSpPr>
        <p:spPr>
          <a:xfrm>
            <a:off x="4722876" y="57835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74" name="Shape 171"/>
          <p:cNvSpPr/>
          <p:nvPr/>
        </p:nvSpPr>
        <p:spPr>
          <a:xfrm>
            <a:off x="4997196" y="57835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75" name="Shape 172"/>
          <p:cNvSpPr/>
          <p:nvPr/>
        </p:nvSpPr>
        <p:spPr>
          <a:xfrm>
            <a:off x="5271516" y="5783580"/>
            <a:ext cx="260604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76" name="Shape 173"/>
          <p:cNvSpPr/>
          <p:nvPr/>
        </p:nvSpPr>
        <p:spPr>
          <a:xfrm>
            <a:off x="5545836" y="57835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77" name="Shape 174"/>
          <p:cNvSpPr/>
          <p:nvPr/>
        </p:nvSpPr>
        <p:spPr>
          <a:xfrm>
            <a:off x="5820156" y="57835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78" name="Shape 175"/>
          <p:cNvSpPr/>
          <p:nvPr/>
        </p:nvSpPr>
        <p:spPr>
          <a:xfrm>
            <a:off x="6094476" y="57835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79" name="Shape 176"/>
          <p:cNvSpPr/>
          <p:nvPr/>
        </p:nvSpPr>
        <p:spPr>
          <a:xfrm>
            <a:off x="6368796" y="57835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0" name="Shape 177"/>
          <p:cNvSpPr/>
          <p:nvPr/>
        </p:nvSpPr>
        <p:spPr>
          <a:xfrm>
            <a:off x="6643116" y="5783580"/>
            <a:ext cx="260604" cy="108585"/>
          </a:xfrm>
          <a:prstGeom prst="rect">
            <a:avLst/>
          </a:prstGeom>
          <a:solidFill>
            <a:srgbClr val="00D9FF">
              <a:alpha val="94000"/>
            </a:srgbClr>
          </a:solidFill>
          <a:ln/>
        </p:spPr>
      </p:sp>
      <p:sp>
        <p:nvSpPr>
          <p:cNvPr id="181" name="Shape 178"/>
          <p:cNvSpPr/>
          <p:nvPr/>
        </p:nvSpPr>
        <p:spPr>
          <a:xfrm>
            <a:off x="6917436" y="57835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182" name="Shape 179"/>
          <p:cNvSpPr/>
          <p:nvPr/>
        </p:nvSpPr>
        <p:spPr>
          <a:xfrm>
            <a:off x="7191756" y="57835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83" name="Shape 180"/>
          <p:cNvSpPr/>
          <p:nvPr/>
        </p:nvSpPr>
        <p:spPr>
          <a:xfrm>
            <a:off x="7466076" y="57835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4" name="Shape 181"/>
          <p:cNvSpPr/>
          <p:nvPr/>
        </p:nvSpPr>
        <p:spPr>
          <a:xfrm>
            <a:off x="4448556" y="58978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85" name="Shape 182"/>
          <p:cNvSpPr/>
          <p:nvPr/>
        </p:nvSpPr>
        <p:spPr>
          <a:xfrm>
            <a:off x="4722876" y="58978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86" name="Shape 183"/>
          <p:cNvSpPr/>
          <p:nvPr/>
        </p:nvSpPr>
        <p:spPr>
          <a:xfrm>
            <a:off x="4997196" y="58978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87" name="Shape 184"/>
          <p:cNvSpPr/>
          <p:nvPr/>
        </p:nvSpPr>
        <p:spPr>
          <a:xfrm>
            <a:off x="5271516" y="58978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88" name="Shape 185"/>
          <p:cNvSpPr/>
          <p:nvPr/>
        </p:nvSpPr>
        <p:spPr>
          <a:xfrm>
            <a:off x="5545836" y="58978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89" name="Shape 186"/>
          <p:cNvSpPr/>
          <p:nvPr/>
        </p:nvSpPr>
        <p:spPr>
          <a:xfrm>
            <a:off x="5820156" y="5897880"/>
            <a:ext cx="260604" cy="108585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190" name="Shape 187"/>
          <p:cNvSpPr/>
          <p:nvPr/>
        </p:nvSpPr>
        <p:spPr>
          <a:xfrm>
            <a:off x="6094476" y="58978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91" name="Shape 188"/>
          <p:cNvSpPr/>
          <p:nvPr/>
        </p:nvSpPr>
        <p:spPr>
          <a:xfrm>
            <a:off x="6368796" y="58978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92" name="Shape 189"/>
          <p:cNvSpPr/>
          <p:nvPr/>
        </p:nvSpPr>
        <p:spPr>
          <a:xfrm>
            <a:off x="6643116" y="58978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93" name="Shape 190"/>
          <p:cNvSpPr/>
          <p:nvPr/>
        </p:nvSpPr>
        <p:spPr>
          <a:xfrm>
            <a:off x="6917436" y="5897880"/>
            <a:ext cx="260604" cy="108585"/>
          </a:xfrm>
          <a:prstGeom prst="rect">
            <a:avLst/>
          </a:prstGeom>
          <a:solidFill>
            <a:srgbClr val="00D9FF">
              <a:alpha val="86000"/>
            </a:srgbClr>
          </a:solidFill>
          <a:ln/>
        </p:spPr>
      </p:sp>
      <p:sp>
        <p:nvSpPr>
          <p:cNvPr id="194" name="Shape 191"/>
          <p:cNvSpPr/>
          <p:nvPr/>
        </p:nvSpPr>
        <p:spPr>
          <a:xfrm>
            <a:off x="7191756" y="58978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95" name="Shape 192"/>
          <p:cNvSpPr/>
          <p:nvPr/>
        </p:nvSpPr>
        <p:spPr>
          <a:xfrm>
            <a:off x="7466076" y="58978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96" name="Shape 193"/>
          <p:cNvSpPr/>
          <p:nvPr/>
        </p:nvSpPr>
        <p:spPr>
          <a:xfrm>
            <a:off x="4448556" y="60121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97" name="Shape 194"/>
          <p:cNvSpPr/>
          <p:nvPr/>
        </p:nvSpPr>
        <p:spPr>
          <a:xfrm>
            <a:off x="4722876" y="60121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198" name="Shape 195"/>
          <p:cNvSpPr/>
          <p:nvPr/>
        </p:nvSpPr>
        <p:spPr>
          <a:xfrm>
            <a:off x="4997196" y="60121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199" name="Shape 196"/>
          <p:cNvSpPr/>
          <p:nvPr/>
        </p:nvSpPr>
        <p:spPr>
          <a:xfrm>
            <a:off x="5271516" y="60121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200" name="Shape 197"/>
          <p:cNvSpPr/>
          <p:nvPr/>
        </p:nvSpPr>
        <p:spPr>
          <a:xfrm>
            <a:off x="5545836" y="60121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201" name="Shape 198"/>
          <p:cNvSpPr/>
          <p:nvPr/>
        </p:nvSpPr>
        <p:spPr>
          <a:xfrm>
            <a:off x="5820156" y="60121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202" name="Shape 199"/>
          <p:cNvSpPr/>
          <p:nvPr/>
        </p:nvSpPr>
        <p:spPr>
          <a:xfrm>
            <a:off x="6094476" y="60121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203" name="Shape 200"/>
          <p:cNvSpPr/>
          <p:nvPr/>
        </p:nvSpPr>
        <p:spPr>
          <a:xfrm>
            <a:off x="6368796" y="6012180"/>
            <a:ext cx="260604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204" name="Shape 201"/>
          <p:cNvSpPr/>
          <p:nvPr/>
        </p:nvSpPr>
        <p:spPr>
          <a:xfrm>
            <a:off x="6643116" y="60121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205" name="Shape 202"/>
          <p:cNvSpPr/>
          <p:nvPr/>
        </p:nvSpPr>
        <p:spPr>
          <a:xfrm>
            <a:off x="6917436" y="60121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06" name="Shape 203"/>
          <p:cNvSpPr/>
          <p:nvPr/>
        </p:nvSpPr>
        <p:spPr>
          <a:xfrm>
            <a:off x="7191756" y="6012180"/>
            <a:ext cx="260604" cy="108585"/>
          </a:xfrm>
          <a:prstGeom prst="rect">
            <a:avLst/>
          </a:prstGeom>
          <a:solidFill>
            <a:srgbClr val="00D9FF">
              <a:alpha val="86000"/>
            </a:srgbClr>
          </a:solidFill>
          <a:ln/>
        </p:spPr>
      </p:sp>
      <p:sp>
        <p:nvSpPr>
          <p:cNvPr id="207" name="Shape 204"/>
          <p:cNvSpPr/>
          <p:nvPr/>
        </p:nvSpPr>
        <p:spPr>
          <a:xfrm>
            <a:off x="7466076" y="60121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208" name="Shape 205"/>
          <p:cNvSpPr/>
          <p:nvPr/>
        </p:nvSpPr>
        <p:spPr>
          <a:xfrm>
            <a:off x="4448556" y="61264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209" name="Shape 206"/>
          <p:cNvSpPr/>
          <p:nvPr/>
        </p:nvSpPr>
        <p:spPr>
          <a:xfrm>
            <a:off x="4722876" y="61264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210" name="Shape 207"/>
          <p:cNvSpPr/>
          <p:nvPr/>
        </p:nvSpPr>
        <p:spPr>
          <a:xfrm>
            <a:off x="4997196" y="61264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211" name="Shape 208"/>
          <p:cNvSpPr/>
          <p:nvPr/>
        </p:nvSpPr>
        <p:spPr>
          <a:xfrm>
            <a:off x="5271516" y="6126480"/>
            <a:ext cx="260604" cy="108585"/>
          </a:xfrm>
          <a:prstGeom prst="rect">
            <a:avLst/>
          </a:prstGeom>
          <a:solidFill>
            <a:srgbClr val="00D9FF">
              <a:alpha val="9000"/>
            </a:srgbClr>
          </a:solidFill>
          <a:ln/>
        </p:spPr>
      </p:sp>
      <p:sp>
        <p:nvSpPr>
          <p:cNvPr id="212" name="Shape 209"/>
          <p:cNvSpPr/>
          <p:nvPr/>
        </p:nvSpPr>
        <p:spPr>
          <a:xfrm>
            <a:off x="5545836" y="6126480"/>
            <a:ext cx="260604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213" name="Shape 210"/>
          <p:cNvSpPr/>
          <p:nvPr/>
        </p:nvSpPr>
        <p:spPr>
          <a:xfrm>
            <a:off x="5820156" y="6126480"/>
            <a:ext cx="260604" cy="10858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214" name="Shape 211"/>
          <p:cNvSpPr/>
          <p:nvPr/>
        </p:nvSpPr>
        <p:spPr>
          <a:xfrm>
            <a:off x="6094476" y="6126480"/>
            <a:ext cx="260604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215" name="Shape 212"/>
          <p:cNvSpPr/>
          <p:nvPr/>
        </p:nvSpPr>
        <p:spPr>
          <a:xfrm>
            <a:off x="6368796" y="6126480"/>
            <a:ext cx="260604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216" name="Shape 213"/>
          <p:cNvSpPr/>
          <p:nvPr/>
        </p:nvSpPr>
        <p:spPr>
          <a:xfrm>
            <a:off x="6643116" y="6126480"/>
            <a:ext cx="260604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17" name="Shape 214"/>
          <p:cNvSpPr/>
          <p:nvPr/>
        </p:nvSpPr>
        <p:spPr>
          <a:xfrm>
            <a:off x="6917436" y="6126480"/>
            <a:ext cx="260604" cy="108585"/>
          </a:xfrm>
          <a:prstGeom prst="rect">
            <a:avLst/>
          </a:prstGeom>
          <a:solidFill>
            <a:srgbClr val="00D9FF">
              <a:alpha val="7000"/>
            </a:srgbClr>
          </a:solidFill>
          <a:ln/>
        </p:spPr>
      </p:sp>
      <p:sp>
        <p:nvSpPr>
          <p:cNvPr id="218" name="Shape 215"/>
          <p:cNvSpPr/>
          <p:nvPr/>
        </p:nvSpPr>
        <p:spPr>
          <a:xfrm>
            <a:off x="7191756" y="6126480"/>
            <a:ext cx="260604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19" name="Shape 216"/>
          <p:cNvSpPr/>
          <p:nvPr/>
        </p:nvSpPr>
        <p:spPr>
          <a:xfrm>
            <a:off x="7466076" y="6126480"/>
            <a:ext cx="260604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220" name="Text 217"/>
          <p:cNvSpPr/>
          <p:nvPr/>
        </p:nvSpPr>
        <p:spPr>
          <a:xfrm>
            <a:off x="4425696" y="62179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 diagonal  ·  faint off-diagonal</a:t>
            </a:r>
            <a:endParaRPr lang="en-US" sz="800" dirty="0"/>
          </a:p>
        </p:txBody>
      </p:sp>
      <p:sp>
        <p:nvSpPr>
          <p:cNvPr id="221" name="Shape 218"/>
          <p:cNvSpPr/>
          <p:nvPr/>
        </p:nvSpPr>
        <p:spPr>
          <a:xfrm>
            <a:off x="8028432" y="4434840"/>
            <a:ext cx="3703320" cy="1920240"/>
          </a:xfrm>
          <a:prstGeom prst="roundRect">
            <a:avLst>
              <a:gd name="adj" fmla="val 4762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8211312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 grid  ·  green=correct</a:t>
            </a:r>
            <a:endParaRPr lang="en-US" sz="1000" dirty="0"/>
          </a:p>
        </p:txBody>
      </p:sp>
      <p:sp>
        <p:nvSpPr>
          <p:cNvPr id="223" name="Shape 220"/>
          <p:cNvSpPr/>
          <p:nvPr/>
        </p:nvSpPr>
        <p:spPr>
          <a:xfrm>
            <a:off x="8257032" y="489204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8257032" y="489204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225" name="Shape 222"/>
          <p:cNvSpPr/>
          <p:nvPr/>
        </p:nvSpPr>
        <p:spPr>
          <a:xfrm>
            <a:off x="9068562" y="489204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9068562" y="489204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800" dirty="0"/>
          </a:p>
        </p:txBody>
      </p:sp>
      <p:sp>
        <p:nvSpPr>
          <p:cNvPr id="227" name="Shape 224"/>
          <p:cNvSpPr/>
          <p:nvPr/>
        </p:nvSpPr>
        <p:spPr>
          <a:xfrm>
            <a:off x="9880092" y="489204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9880092" y="489204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800" dirty="0"/>
          </a:p>
        </p:txBody>
      </p:sp>
      <p:sp>
        <p:nvSpPr>
          <p:cNvPr id="229" name="Shape 226"/>
          <p:cNvSpPr/>
          <p:nvPr/>
        </p:nvSpPr>
        <p:spPr>
          <a:xfrm>
            <a:off x="10691622" y="489204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30" name="Text 227"/>
          <p:cNvSpPr/>
          <p:nvPr/>
        </p:nvSpPr>
        <p:spPr>
          <a:xfrm>
            <a:off x="10691622" y="489204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800" dirty="0"/>
          </a:p>
        </p:txBody>
      </p:sp>
      <p:sp>
        <p:nvSpPr>
          <p:cNvPr id="231" name="Shape 228"/>
          <p:cNvSpPr/>
          <p:nvPr/>
        </p:nvSpPr>
        <p:spPr>
          <a:xfrm>
            <a:off x="8257032" y="555498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32" name="Text 229"/>
          <p:cNvSpPr/>
          <p:nvPr/>
        </p:nvSpPr>
        <p:spPr>
          <a:xfrm>
            <a:off x="8257032" y="555498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233" name="Shape 230"/>
          <p:cNvSpPr/>
          <p:nvPr/>
        </p:nvSpPr>
        <p:spPr>
          <a:xfrm>
            <a:off x="9068562" y="555498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9068562" y="555498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800" dirty="0"/>
          </a:p>
        </p:txBody>
      </p:sp>
      <p:sp>
        <p:nvSpPr>
          <p:cNvPr id="235" name="Shape 232"/>
          <p:cNvSpPr/>
          <p:nvPr/>
        </p:nvSpPr>
        <p:spPr>
          <a:xfrm>
            <a:off x="9880092" y="555498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9880092" y="555498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800" dirty="0"/>
          </a:p>
        </p:txBody>
      </p:sp>
      <p:sp>
        <p:nvSpPr>
          <p:cNvPr id="237" name="Shape 234"/>
          <p:cNvSpPr/>
          <p:nvPr/>
        </p:nvSpPr>
        <p:spPr>
          <a:xfrm>
            <a:off x="10691622" y="5554980"/>
            <a:ext cx="746608" cy="563499"/>
          </a:xfrm>
          <a:prstGeom prst="roundRect">
            <a:avLst>
              <a:gd name="adj" fmla="val 6491"/>
            </a:avLst>
          </a:prstGeom>
          <a:solidFill>
            <a:srgbClr val="0A0E27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10691622" y="5554980"/>
            <a:ext cx="746608" cy="56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800" dirty="0"/>
          </a:p>
        </p:txBody>
      </p:sp>
      <p:sp>
        <p:nvSpPr>
          <p:cNvPr id="239" name="Text 2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240" name="Text 23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26</a:t>
            </a:r>
            <a:endParaRPr lang="en-US" sz="900" dirty="0"/>
          </a:p>
        </p:txBody>
      </p:sp>
      <p:sp>
        <p:nvSpPr>
          <p:cNvPr id="241" name="Shape 238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18 · input → tensor → top-3 prediction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4552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 EXAMPLE  ·  /predict-character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1691640" cy="1691640"/>
          </a:xfrm>
          <a:prstGeom prst="roundRect">
            <a:avLst>
              <a:gd name="adj" fmla="val 2703"/>
            </a:avLst>
          </a:prstGeom>
          <a:solidFill>
            <a:srgbClr val="0A0E27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-240000">
            <a:off x="685800" y="187452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·  upload.png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2697480"/>
            <a:ext cx="36576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874520"/>
            <a:ext cx="1691640" cy="1691640"/>
          </a:xfrm>
          <a:prstGeom prst="roundRect">
            <a:avLst>
              <a:gd name="adj" fmla="val 2703"/>
            </a:avLst>
          </a:prstGeom>
          <a:solidFill>
            <a:srgbClr val="0A0E27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920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86100" y="1920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920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314700" y="19202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19202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43300" y="1920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1920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71900" y="19202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86200" y="1920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1920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19202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29100" y="1920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19202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57700" y="19202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20345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86100" y="20345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20345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14700" y="20345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20345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43300" y="20345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0" y="20345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71900" y="20345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20345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20345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14800" y="20345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29100" y="20345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43400" y="20345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57700" y="20345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971800" y="21488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086100" y="21488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0" y="21488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14700" y="2148840"/>
            <a:ext cx="108585" cy="108585"/>
          </a:xfrm>
          <a:prstGeom prst="rect">
            <a:avLst/>
          </a:prstGeom>
          <a:solidFill>
            <a:srgbClr val="00D9FF">
              <a:alpha val="8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429000" y="2148840"/>
            <a:ext cx="108585" cy="108585"/>
          </a:xfrm>
          <a:prstGeom prst="rect">
            <a:avLst/>
          </a:prstGeom>
          <a:solidFill>
            <a:srgbClr val="00D9FF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3300" y="2148840"/>
            <a:ext cx="108585" cy="108585"/>
          </a:xfrm>
          <a:prstGeom prst="rect">
            <a:avLst/>
          </a:prstGeom>
          <a:solidFill>
            <a:srgbClr val="00D9FF">
              <a:alpha val="9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657600" y="2148840"/>
            <a:ext cx="108585" cy="108585"/>
          </a:xfrm>
          <a:prstGeom prst="rect">
            <a:avLst/>
          </a:prstGeom>
          <a:solidFill>
            <a:srgbClr val="00D9FF">
              <a:alpha val="9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771900" y="2148840"/>
            <a:ext cx="108585" cy="108585"/>
          </a:xfrm>
          <a:prstGeom prst="rect">
            <a:avLst/>
          </a:prstGeom>
          <a:solidFill>
            <a:srgbClr val="00D9FF">
              <a:alpha val="8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886200" y="2148840"/>
            <a:ext cx="108585" cy="108585"/>
          </a:xfrm>
          <a:prstGeom prst="rect">
            <a:avLst/>
          </a:prstGeom>
          <a:solidFill>
            <a:srgbClr val="00D9FF">
              <a:alpha val="87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000500" y="2148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114800" y="2148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229100" y="2148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343400" y="21488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457700" y="21488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971800" y="22631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086100" y="22631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200400" y="22631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314700" y="2263140"/>
            <a:ext cx="108585" cy="108585"/>
          </a:xfrm>
          <a:prstGeom prst="rect">
            <a:avLst/>
          </a:prstGeom>
          <a:solidFill>
            <a:srgbClr val="00D9FF">
              <a:alpha val="91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429000" y="22631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3543300" y="22631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657600" y="22631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771900" y="22631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886200" y="22631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000500" y="2263140"/>
            <a:ext cx="108585" cy="108585"/>
          </a:xfrm>
          <a:prstGeom prst="rect">
            <a:avLst/>
          </a:prstGeom>
          <a:solidFill>
            <a:srgbClr val="00D9FF">
              <a:alpha val="9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114800" y="22631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4229100" y="22631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343400" y="22631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457700" y="22631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971800" y="23774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086100" y="23774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200400" y="23774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314700" y="2377440"/>
            <a:ext cx="108585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429000" y="23774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543300" y="23774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657600" y="23774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771900" y="23774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886200" y="23774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000500" y="2377440"/>
            <a:ext cx="108585" cy="108585"/>
          </a:xfrm>
          <a:prstGeom prst="rect">
            <a:avLst/>
          </a:prstGeom>
          <a:solidFill>
            <a:srgbClr val="00D9FF">
              <a:alpha val="87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114800" y="23774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4229100" y="23774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343400" y="23774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457700" y="23774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2971800" y="24917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3086100" y="24917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200400" y="24917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3314700" y="2491740"/>
            <a:ext cx="108585" cy="108585"/>
          </a:xfrm>
          <a:prstGeom prst="rect">
            <a:avLst/>
          </a:prstGeom>
          <a:solidFill>
            <a:srgbClr val="00D9FF">
              <a:alpha val="97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429000" y="24917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3543300" y="24917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657600" y="24917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3771900" y="24917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3886200" y="24917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4000500" y="2491740"/>
            <a:ext cx="108585" cy="108585"/>
          </a:xfrm>
          <a:prstGeom prst="rect">
            <a:avLst/>
          </a:prstGeom>
          <a:solidFill>
            <a:srgbClr val="00D9FF">
              <a:alpha val="9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114800" y="24917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229100" y="24917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343400" y="24917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457700" y="24917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2971800" y="26060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3086100" y="26060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3200400" y="26060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3314700" y="2606040"/>
            <a:ext cx="108585" cy="108585"/>
          </a:xfrm>
          <a:prstGeom prst="rect">
            <a:avLst/>
          </a:prstGeom>
          <a:solidFill>
            <a:srgbClr val="00D9FF">
              <a:alpha val="86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3429000" y="2606040"/>
            <a:ext cx="108585" cy="108585"/>
          </a:xfrm>
          <a:prstGeom prst="rect">
            <a:avLst/>
          </a:prstGeom>
          <a:solidFill>
            <a:srgbClr val="00D9FF">
              <a:alpha val="9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3543300" y="2606040"/>
            <a:ext cx="108585" cy="108585"/>
          </a:xfrm>
          <a:prstGeom prst="rect">
            <a:avLst/>
          </a:prstGeom>
          <a:solidFill>
            <a:srgbClr val="00D9FF">
              <a:alpha val="8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3657600" y="2606040"/>
            <a:ext cx="108585" cy="108585"/>
          </a:xfrm>
          <a:prstGeom prst="rect">
            <a:avLst/>
          </a:prstGeom>
          <a:solidFill>
            <a:srgbClr val="00D9FF">
              <a:alpha val="89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3771900" y="2606040"/>
            <a:ext cx="108585" cy="108585"/>
          </a:xfrm>
          <a:prstGeom prst="rect">
            <a:avLst/>
          </a:prstGeom>
          <a:solidFill>
            <a:srgbClr val="00D9FF">
              <a:alpha val="86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3886200" y="2606040"/>
            <a:ext cx="108585" cy="108585"/>
          </a:xfrm>
          <a:prstGeom prst="rect">
            <a:avLst/>
          </a:prstGeom>
          <a:solidFill>
            <a:srgbClr val="00D9FF">
              <a:alpha val="96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000500" y="26060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114800" y="26060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229100" y="26060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343400" y="26060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4457700" y="26060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2971800" y="27203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086100" y="27203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3200400" y="27203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3314700" y="2720340"/>
            <a:ext cx="108585" cy="108585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429000" y="27203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3543300" y="27203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3657600" y="2720340"/>
            <a:ext cx="108585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3771900" y="27203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3886200" y="27203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4000500" y="27203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4114800" y="27203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4229100" y="27203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4343400" y="27203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4457700" y="27203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2971800" y="28346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3086100" y="28346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3200400" y="28346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3314700" y="2834640"/>
            <a:ext cx="108585" cy="108585"/>
          </a:xfrm>
          <a:prstGeom prst="rect">
            <a:avLst/>
          </a:prstGeom>
          <a:solidFill>
            <a:srgbClr val="00D9FF">
              <a:alpha val="89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3429000" y="28346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3543300" y="28346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3657600" y="28346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3771900" y="2834640"/>
            <a:ext cx="108585" cy="108585"/>
          </a:xfrm>
          <a:prstGeom prst="rect">
            <a:avLst/>
          </a:prstGeom>
          <a:solidFill>
            <a:srgbClr val="00D9FF">
              <a:alpha val="93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3886200" y="28346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4000500" y="28346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4114800" y="28346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4229100" y="28346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4343400" y="28346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4457700" y="28346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2971800" y="29489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3086100" y="29489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3200400" y="29489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3314700" y="2948940"/>
            <a:ext cx="108585" cy="108585"/>
          </a:xfrm>
          <a:prstGeom prst="rect">
            <a:avLst/>
          </a:prstGeom>
          <a:solidFill>
            <a:srgbClr val="00D9FF">
              <a:alpha val="9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3429000" y="29489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3543300" y="29489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3657600" y="29489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3771900" y="29489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3886200" y="2948940"/>
            <a:ext cx="108585" cy="108585"/>
          </a:xfrm>
          <a:prstGeom prst="rect">
            <a:avLst/>
          </a:prstGeom>
          <a:solidFill>
            <a:srgbClr val="00D9FF">
              <a:alpha val="95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4000500" y="29489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4114800" y="29489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4229100" y="29489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4343400" y="29489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4457700" y="29489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2971800" y="3063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3086100" y="30632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3200400" y="3063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3314700" y="3063240"/>
            <a:ext cx="108585" cy="108585"/>
          </a:xfrm>
          <a:prstGeom prst="rect">
            <a:avLst/>
          </a:prstGeom>
          <a:solidFill>
            <a:srgbClr val="00D9FF">
              <a:alpha val="88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3429000" y="3063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3543300" y="3063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3657600" y="30632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3771900" y="30632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3886200" y="30632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4000500" y="3063240"/>
            <a:ext cx="108585" cy="108585"/>
          </a:xfrm>
          <a:prstGeom prst="rect">
            <a:avLst/>
          </a:prstGeom>
          <a:solidFill>
            <a:srgbClr val="00D9FF">
              <a:alpha val="87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4114800" y="30632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4229100" y="30632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4343400" y="30632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4457700" y="30632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2971800" y="31775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3086100" y="31775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3200400" y="31775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3314700" y="3177540"/>
            <a:ext cx="108585" cy="108585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429000" y="31775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3543300" y="31775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3657600" y="31775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3771900" y="31775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3886200" y="31775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4000500" y="31775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4114800" y="3177540"/>
            <a:ext cx="108585" cy="108585"/>
          </a:xfrm>
          <a:prstGeom prst="rect">
            <a:avLst/>
          </a:prstGeom>
          <a:solidFill>
            <a:srgbClr val="00D9FF">
              <a:alpha val="98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4229100" y="31775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4343400" y="31775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4457700" y="31775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2971800" y="32918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3086100" y="32918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3200400" y="32918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3314700" y="32918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3429000" y="3291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3543300" y="32918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3657600" y="32918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3771900" y="3291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3886200" y="32918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4000500" y="3291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4114800" y="32918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4229100" y="3291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4343400" y="32918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4457700" y="3291840"/>
            <a:ext cx="108585" cy="108585"/>
          </a:xfrm>
          <a:prstGeom prst="rect">
            <a:avLst/>
          </a:prstGeom>
          <a:solidFill>
            <a:srgbClr val="00D9FF">
              <a:alpha val="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2971800" y="34061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3086100" y="34061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3200400" y="34061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3314700" y="34061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3429000" y="34061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3543300" y="34061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3657600" y="34061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3771900" y="3406140"/>
            <a:ext cx="108585" cy="108585"/>
          </a:xfrm>
          <a:prstGeom prst="rect">
            <a:avLst/>
          </a:prstGeom>
          <a:solidFill>
            <a:srgbClr val="00D9FF">
              <a:alpha val="6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3886200" y="3406140"/>
            <a:ext cx="108585" cy="108585"/>
          </a:xfrm>
          <a:prstGeom prst="rect">
            <a:avLst/>
          </a:prstGeom>
          <a:solidFill>
            <a:srgbClr val="00D9FF">
              <a:alpha val="4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4000500" y="34061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4114800" y="3406140"/>
            <a:ext cx="108585" cy="108585"/>
          </a:xfrm>
          <a:prstGeom prst="rect">
            <a:avLst/>
          </a:prstGeom>
          <a:solidFill>
            <a:srgbClr val="00D9FF">
              <a:alpha val="1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4229100" y="3406140"/>
            <a:ext cx="108585" cy="108585"/>
          </a:xfrm>
          <a:prstGeom prst="rect">
            <a:avLst/>
          </a:prstGeom>
          <a:solidFill>
            <a:srgbClr val="00D9FF">
              <a:alpha val="2000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4343400" y="3406140"/>
            <a:ext cx="108585" cy="108585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4457700" y="3406140"/>
            <a:ext cx="108585" cy="10858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09" name="Text 207"/>
          <p:cNvSpPr/>
          <p:nvPr/>
        </p:nvSpPr>
        <p:spPr>
          <a:xfrm>
            <a:off x="2926080" y="36118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preprocessed tensor  ·  224×224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4709160" y="2697480"/>
            <a:ext cx="36576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5166360" y="187452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303520" y="20116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13" name="Shape 211"/>
          <p:cNvSpPr/>
          <p:nvPr/>
        </p:nvSpPr>
        <p:spPr>
          <a:xfrm>
            <a:off x="5669280" y="2176272"/>
            <a:ext cx="2194560" cy="1371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14" name="Shape 212"/>
          <p:cNvSpPr/>
          <p:nvPr/>
        </p:nvSpPr>
        <p:spPr>
          <a:xfrm>
            <a:off x="5669280" y="2176272"/>
            <a:ext cx="2166031" cy="13716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15" name="Text 213"/>
          <p:cNvSpPr/>
          <p:nvPr/>
        </p:nvSpPr>
        <p:spPr>
          <a:xfrm>
            <a:off x="7863840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98.7%</a:t>
            </a:r>
            <a:endParaRPr lang="en-US" sz="1050" dirty="0"/>
          </a:p>
        </p:txBody>
      </p:sp>
      <p:sp>
        <p:nvSpPr>
          <p:cNvPr id="216" name="Text 214"/>
          <p:cNvSpPr/>
          <p:nvPr/>
        </p:nvSpPr>
        <p:spPr>
          <a:xfrm>
            <a:off x="5303520" y="25146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217" name="Shape 215"/>
          <p:cNvSpPr/>
          <p:nvPr/>
        </p:nvSpPr>
        <p:spPr>
          <a:xfrm>
            <a:off x="5669280" y="2679192"/>
            <a:ext cx="2194560" cy="1371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18" name="Shape 216"/>
          <p:cNvSpPr/>
          <p:nvPr/>
        </p:nvSpPr>
        <p:spPr>
          <a:xfrm>
            <a:off x="5669280" y="2679192"/>
            <a:ext cx="17556" cy="137160"/>
          </a:xfrm>
          <a:prstGeom prst="rect">
            <a:avLst/>
          </a:prstGeom>
          <a:solidFill>
            <a:srgbClr val="8B95C9"/>
          </a:solidFill>
          <a:ln/>
        </p:spPr>
      </p:sp>
      <p:sp>
        <p:nvSpPr>
          <p:cNvPr id="219" name="Text 217"/>
          <p:cNvSpPr/>
          <p:nvPr/>
        </p:nvSpPr>
        <p:spPr>
          <a:xfrm>
            <a:off x="786384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0.8%</a:t>
            </a:r>
            <a:endParaRPr lang="en-US" sz="1050" dirty="0"/>
          </a:p>
        </p:txBody>
      </p:sp>
      <p:sp>
        <p:nvSpPr>
          <p:cNvPr id="220" name="Text 218"/>
          <p:cNvSpPr/>
          <p:nvPr/>
        </p:nvSpPr>
        <p:spPr>
          <a:xfrm>
            <a:off x="5303520" y="3017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21" name="Shape 219"/>
          <p:cNvSpPr/>
          <p:nvPr/>
        </p:nvSpPr>
        <p:spPr>
          <a:xfrm>
            <a:off x="5669280" y="3182112"/>
            <a:ext cx="2194560" cy="1371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22" name="Shape 220"/>
          <p:cNvSpPr/>
          <p:nvPr/>
        </p:nvSpPr>
        <p:spPr>
          <a:xfrm>
            <a:off x="5669280" y="3182112"/>
            <a:ext cx="6584" cy="137160"/>
          </a:xfrm>
          <a:prstGeom prst="rect">
            <a:avLst/>
          </a:prstGeom>
          <a:solidFill>
            <a:srgbClr val="8B95C9"/>
          </a:solidFill>
          <a:ln/>
        </p:spPr>
      </p:sp>
      <p:sp>
        <p:nvSpPr>
          <p:cNvPr id="223" name="Text 221"/>
          <p:cNvSpPr/>
          <p:nvPr/>
        </p:nvSpPr>
        <p:spPr>
          <a:xfrm>
            <a:off x="786384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0.3%</a:t>
            </a:r>
            <a:endParaRPr lang="en-US" sz="1050" dirty="0"/>
          </a:p>
        </p:txBody>
      </p:sp>
      <p:sp>
        <p:nvSpPr>
          <p:cNvPr id="224" name="Shape 222"/>
          <p:cNvSpPr/>
          <p:nvPr/>
        </p:nvSpPr>
        <p:spPr>
          <a:xfrm>
            <a:off x="8549640" y="1874520"/>
            <a:ext cx="3154680" cy="1691640"/>
          </a:xfrm>
          <a:prstGeom prst="roundRect">
            <a:avLst>
              <a:gd name="adj" fmla="val 2703"/>
            </a:avLst>
          </a:prstGeom>
          <a:solidFill>
            <a:srgbClr val="060818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641080" y="192024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"character": "R",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0.987,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"top_k":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{"R": 0.987},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{"K": 0.008},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{"P": 0.003}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457200" y="3931920"/>
            <a:ext cx="11274552" cy="2423160"/>
          </a:xfrm>
          <a:prstGeom prst="roundRect">
            <a:avLst>
              <a:gd name="adj" fmla="val 3774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8580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EXAMPLE  ·  /predict-word</a:t>
            </a:r>
            <a:endParaRPr lang="en-US" sz="1000" dirty="0"/>
          </a:p>
        </p:txBody>
      </p:sp>
      <p:sp>
        <p:nvSpPr>
          <p:cNvPr id="228" name="Shape 226"/>
          <p:cNvSpPr/>
          <p:nvPr/>
        </p:nvSpPr>
        <p:spPr>
          <a:xfrm>
            <a:off x="685800" y="4389120"/>
            <a:ext cx="4114800" cy="1783080"/>
          </a:xfrm>
          <a:prstGeom prst="roundRect">
            <a:avLst>
              <a:gd name="adj" fmla="val 2564"/>
            </a:avLst>
          </a:prstGeom>
          <a:solidFill>
            <a:srgbClr val="0A0E27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14400" y="4754880"/>
            <a:ext cx="606247" cy="1005840"/>
          </a:xfrm>
          <a:prstGeom prst="rect">
            <a:avLst/>
          </a:prstGeom>
          <a:solidFill>
            <a:srgbClr val="00D9FF">
              <a:alpha val="8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 rot="-180000">
            <a:off x="914400" y="4754880"/>
            <a:ext cx="606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3600" dirty="0"/>
          </a:p>
        </p:txBody>
      </p:sp>
      <p:sp>
        <p:nvSpPr>
          <p:cNvPr id="231" name="Shape 229"/>
          <p:cNvSpPr/>
          <p:nvPr/>
        </p:nvSpPr>
        <p:spPr>
          <a:xfrm>
            <a:off x="1627632" y="4754880"/>
            <a:ext cx="606247" cy="1005840"/>
          </a:xfrm>
          <a:prstGeom prst="rect">
            <a:avLst/>
          </a:prstGeom>
          <a:solidFill>
            <a:srgbClr val="00D9FF">
              <a:alpha val="8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 rot="180000">
            <a:off x="1627632" y="4754880"/>
            <a:ext cx="606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600" dirty="0"/>
          </a:p>
        </p:txBody>
      </p:sp>
      <p:sp>
        <p:nvSpPr>
          <p:cNvPr id="233" name="Shape 231"/>
          <p:cNvSpPr/>
          <p:nvPr/>
        </p:nvSpPr>
        <p:spPr>
          <a:xfrm>
            <a:off x="2340864" y="4754880"/>
            <a:ext cx="606247" cy="1005840"/>
          </a:xfrm>
          <a:prstGeom prst="rect">
            <a:avLst/>
          </a:prstGeom>
          <a:solidFill>
            <a:srgbClr val="00D9FF">
              <a:alpha val="8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 rot="-180000">
            <a:off x="2340864" y="4754880"/>
            <a:ext cx="606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600" dirty="0"/>
          </a:p>
        </p:txBody>
      </p:sp>
      <p:sp>
        <p:nvSpPr>
          <p:cNvPr id="235" name="Shape 233"/>
          <p:cNvSpPr/>
          <p:nvPr/>
        </p:nvSpPr>
        <p:spPr>
          <a:xfrm>
            <a:off x="3054096" y="4754880"/>
            <a:ext cx="606247" cy="1005840"/>
          </a:xfrm>
          <a:prstGeom prst="rect">
            <a:avLst/>
          </a:prstGeom>
          <a:solidFill>
            <a:srgbClr val="00D9FF">
              <a:alpha val="8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 rot="180000">
            <a:off x="3054096" y="4754880"/>
            <a:ext cx="606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600" dirty="0"/>
          </a:p>
        </p:txBody>
      </p:sp>
      <p:sp>
        <p:nvSpPr>
          <p:cNvPr id="237" name="Shape 235"/>
          <p:cNvSpPr/>
          <p:nvPr/>
        </p:nvSpPr>
        <p:spPr>
          <a:xfrm>
            <a:off x="3767328" y="4754880"/>
            <a:ext cx="606247" cy="1005840"/>
          </a:xfrm>
          <a:prstGeom prst="rect">
            <a:avLst/>
          </a:prstGeom>
          <a:solidFill>
            <a:srgbClr val="00D9FF">
              <a:alpha val="8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 rot="-180000">
            <a:off x="3767328" y="4754880"/>
            <a:ext cx="6062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600" dirty="0"/>
          </a:p>
        </p:txBody>
      </p:sp>
      <p:sp>
        <p:nvSpPr>
          <p:cNvPr id="239" name="Text 237"/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·  word.jpg  +  CRAFT bboxes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4892040" y="5285232"/>
            <a:ext cx="365760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41" name="Shape 239"/>
          <p:cNvSpPr/>
          <p:nvPr/>
        </p:nvSpPr>
        <p:spPr>
          <a:xfrm>
            <a:off x="5349240" y="4389120"/>
            <a:ext cx="6355080" cy="1783080"/>
          </a:xfrm>
          <a:prstGeom prst="roundRect">
            <a:avLst>
              <a:gd name="adj" fmla="val 2564"/>
            </a:avLst>
          </a:prstGeom>
          <a:solidFill>
            <a:srgbClr val="060818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440680" y="4434840"/>
            <a:ext cx="6217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"predicted_word": "HELLO",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"characters":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{"char": "H", "confidence": 0.94},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{"char": "E", "confidence": 0.94},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{"char": "L", "confidence": 0.94},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{"char": "L", "confidence": 0.94},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{"char": "O", "confidence": 0.94}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"num_chars_detected": 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"avg_confidence": 0.94,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"model_used": "EasyOCR"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3" name="Text 2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26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19 · what got hard · how we knew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9428" y="1645920"/>
            <a:ext cx="37033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428" y="1645920"/>
            <a:ext cx="3703320" cy="54864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8" name="Shape 6"/>
          <p:cNvSpPr/>
          <p:nvPr/>
        </p:nvSpPr>
        <p:spPr>
          <a:xfrm>
            <a:off x="678028" y="1874520"/>
            <a:ext cx="594360" cy="59436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011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9548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pairs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8028" y="2606040"/>
            <a:ext cx="3246120" cy="9144"/>
          </a:xfrm>
          <a:prstGeom prst="rect">
            <a:avLst/>
          </a:prstGeom>
          <a:solidFill>
            <a:srgbClr val="FF4D6D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78028" y="27432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similar letter pairs O/D, I/L, U/V dominate the off-diagonal of the confusion matrix.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44188" y="1645920"/>
            <a:ext cx="37033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44188" y="1645920"/>
            <a:ext cx="370332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2788" y="1874520"/>
            <a:ext cx="594360" cy="59436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948" y="20116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04308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472788" y="2606040"/>
            <a:ext cx="3246120" cy="9144"/>
          </a:xfrm>
          <a:prstGeom prst="rect">
            <a:avLst/>
          </a:prstGeom>
          <a:solidFill>
            <a:srgbClr val="FFD600">
              <a:alpha val="5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472788" y="27432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 dataset is non-uniform — some classes (E, M, S) far more frequent than others.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38948" y="1645920"/>
            <a:ext cx="37033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38948" y="1645920"/>
            <a:ext cx="3703320" cy="54864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2" name="Shape 18"/>
          <p:cNvSpPr/>
          <p:nvPr/>
        </p:nvSpPr>
        <p:spPr>
          <a:xfrm>
            <a:off x="8267548" y="1874520"/>
            <a:ext cx="594360" cy="59436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708" y="201168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99068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cold-start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267548" y="2606040"/>
            <a:ext cx="3246120" cy="9144"/>
          </a:xfrm>
          <a:prstGeom prst="rect">
            <a:avLst/>
          </a:prstGeom>
          <a:solidFill>
            <a:srgbClr val="FF4D6D">
              <a:alpha val="5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8267548" y="27432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s warmup downloading detection + recognition weights → temporary 502s on container boot.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49428" y="4160520"/>
            <a:ext cx="37033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49428" y="4160520"/>
            <a:ext cx="370332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9" name="Shape 24"/>
          <p:cNvSpPr/>
          <p:nvPr/>
        </p:nvSpPr>
        <p:spPr>
          <a:xfrm>
            <a:off x="678028" y="4389120"/>
            <a:ext cx="594360" cy="59436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8" y="452628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09548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inference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678028" y="5120640"/>
            <a:ext cx="3246120" cy="9144"/>
          </a:xfrm>
          <a:prstGeom prst="rect">
            <a:avLst/>
          </a:prstGeom>
          <a:solidFill>
            <a:srgbClr val="FFD600">
              <a:alpha val="50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678028" y="5257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Docker setup uses PyTorch CPU wheel (download.pytorch.org/whl/cpu) — latency tradeoff.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244188" y="4160520"/>
            <a:ext cx="37033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244188" y="4160520"/>
            <a:ext cx="370332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6" name="Shape 30"/>
          <p:cNvSpPr/>
          <p:nvPr/>
        </p:nvSpPr>
        <p:spPr>
          <a:xfrm>
            <a:off x="4472788" y="4389120"/>
            <a:ext cx="594360" cy="59436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948" y="452628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204308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DataLoader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4472788" y="5120640"/>
            <a:ext cx="3246120" cy="9144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4472788" y="5257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requires num_workers=0; Linux can multi-process — guarded behind os.name check.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038948" y="4160520"/>
            <a:ext cx="37033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038948" y="4160520"/>
            <a:ext cx="370332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3" name="Shape 36"/>
          <p:cNvSpPr/>
          <p:nvPr/>
        </p:nvSpPr>
        <p:spPr>
          <a:xfrm>
            <a:off x="8267548" y="4389120"/>
            <a:ext cx="594360" cy="59436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708" y="4526280"/>
            <a:ext cx="320040" cy="32004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999068" y="4434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logger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8267548" y="5120640"/>
            <a:ext cx="3246120" cy="9144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47" name="Text 39"/>
          <p:cNvSpPr/>
          <p:nvPr/>
        </p:nvSpPr>
        <p:spPr>
          <a:xfrm>
            <a:off x="8267548" y="525780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stores history in memory → restart = data loss. Mitigated by persistent fanout queue.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26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 · what we tuned · what it bought 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0848" y="160020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6688" y="182880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08" y="19842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8008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fine-tune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217524" y="3108960"/>
            <a:ext cx="1115568" cy="914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518008" y="3200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convergence + higher final accuracy on MobileNetV2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1208" y="160020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7048" y="182880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68" y="19842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8368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0.1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097884" y="3108960"/>
            <a:ext cx="1115568" cy="914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3"/>
          <p:cNvSpPr/>
          <p:nvPr/>
        </p:nvSpPr>
        <p:spPr>
          <a:xfrm>
            <a:off x="3398368" y="3200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Better-calibrated probabilities · fewer overconfident wrong answers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41568" y="160020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47408" y="182880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428" y="198424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8728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LR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978244" y="3108960"/>
            <a:ext cx="1115568" cy="914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3" name="Text 18"/>
          <p:cNvSpPr/>
          <p:nvPr/>
        </p:nvSpPr>
        <p:spPr>
          <a:xfrm>
            <a:off x="6278728" y="3200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Smoother loss curves · graceful learning-rate decay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9021928" y="160020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27768" y="182880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788" y="198424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59088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858604" y="3108960"/>
            <a:ext cx="1115568" cy="914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9" name="Text 23"/>
          <p:cNvSpPr/>
          <p:nvPr/>
        </p:nvSpPr>
        <p:spPr>
          <a:xfrm>
            <a:off x="9159088" y="3200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 + affine → robust to skewed handwriting in production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80848" y="402336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386688" y="425196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708" y="4407408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8008" y="5120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httpx in Gateway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1217524" y="5532120"/>
            <a:ext cx="1115568" cy="914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5" name="Text 28"/>
          <p:cNvSpPr/>
          <p:nvPr/>
        </p:nvSpPr>
        <p:spPr>
          <a:xfrm>
            <a:off x="518008" y="5623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Non-blocking I/O → many concurrent /predict requests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61208" y="402336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267048" y="425196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00FFA3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068" y="4407408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398368" y="5120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probes everywhere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097884" y="5532120"/>
            <a:ext cx="1115568" cy="914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1" name="Text 33"/>
          <p:cNvSpPr/>
          <p:nvPr/>
        </p:nvSpPr>
        <p:spPr>
          <a:xfrm>
            <a:off x="3398368" y="5623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load-balancer ready · k8s liveness/readiness compatible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141568" y="402336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47408" y="425196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00FFA3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7428" y="4407408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278728" y="5120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Volume-mounted model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6978244" y="5532120"/>
            <a:ext cx="1115568" cy="914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7" name="Text 38"/>
          <p:cNvSpPr/>
          <p:nvPr/>
        </p:nvSpPr>
        <p:spPr>
          <a:xfrm>
            <a:off x="6278728" y="5623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MB binary stays out of image layers · image stays small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9021928" y="4023360"/>
            <a:ext cx="2788920" cy="2240280"/>
          </a:xfrm>
          <a:prstGeom prst="roundRect">
            <a:avLst>
              <a:gd name="adj" fmla="val 408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0027768" y="4251960"/>
            <a:ext cx="777240" cy="77724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00FFA3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7788" y="4407408"/>
            <a:ext cx="457200" cy="45720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159088" y="5120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PyTorch CPU index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858604" y="5532120"/>
            <a:ext cx="1115568" cy="914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53" name="Text 43"/>
          <p:cNvSpPr/>
          <p:nvPr/>
        </p:nvSpPr>
        <p:spPr>
          <a:xfrm>
            <a:off x="9159088" y="5623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Reproducible builds · same wheel on every Docker pull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457200" y="6446520"/>
            <a:ext cx="11274552" cy="0"/>
          </a:xfrm>
          <a:prstGeom prst="roundRect">
            <a:avLst>
              <a:gd name="adj" fmla="val Infinity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26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System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21 · docker compose · 5 services · 1 bridge network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1384280" cy="2971800"/>
          </a:xfrm>
          <a:prstGeom prst="roundRect">
            <a:avLst>
              <a:gd name="adj" fmla="val 3077"/>
            </a:avLst>
          </a:prstGeom>
          <a:solidFill>
            <a:srgbClr val="0F1535">
              <a:alpha val="40000"/>
            </a:srgbClr>
          </a:solidFill>
          <a:ln w="12700">
            <a:solidFill>
              <a:srgbClr val="00D9F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4572000" cy="2286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  ·  network: ocr-network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2103120" cy="2423160"/>
          </a:xfrm>
          <a:prstGeom prst="roundRect">
            <a:avLst>
              <a:gd name="adj" fmla="val 434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91640"/>
            <a:ext cx="210312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ocr-gateway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1535"/>
          </a:solidFill>
          <a:ln w="635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character_service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word_service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1828800" cy="9144"/>
          </a:xfrm>
          <a:prstGeom prst="rect">
            <a:avLst/>
          </a:prstGeom>
          <a:solidFill>
            <a:srgbClr val="00D9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CHAR_URL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WORD_URL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RABBITMQ_*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80360" y="1691640"/>
            <a:ext cx="2103120" cy="2423160"/>
          </a:xfrm>
          <a:prstGeom prst="roundRect">
            <a:avLst>
              <a:gd name="adj" fmla="val 434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691640"/>
            <a:ext cx="21031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ocr-character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21031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1535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1752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3520440"/>
            <a:ext cx="1828800" cy="9144"/>
          </a:xfrm>
          <a:prstGeom prst="rect">
            <a:avLst/>
          </a:prstGeom>
          <a:solidFill>
            <a:srgbClr val="0066F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VOL: ./model: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/app/model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1691640"/>
            <a:ext cx="2103120" cy="2423160"/>
          </a:xfrm>
          <a:prstGeom prst="roundRect">
            <a:avLst>
              <a:gd name="adj" fmla="val 434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691640"/>
            <a:ext cx="210312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ocr-word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0" y="21031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1535"/>
          </a:solidFill>
          <a:ln w="6350">
            <a:solidFill>
              <a:srgbClr val="006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0352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3520440"/>
            <a:ext cx="1828800" cy="9144"/>
          </a:xfrm>
          <a:prstGeom prst="rect">
            <a:avLst/>
          </a:prstGeom>
          <a:solidFill>
            <a:srgbClr val="0066FF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EasyOCR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weights cached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52360" y="1691640"/>
            <a:ext cx="2103120" cy="2423160"/>
          </a:xfrm>
          <a:prstGeom prst="roundRect">
            <a:avLst>
              <a:gd name="adj" fmla="val 434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2360" y="1691640"/>
            <a:ext cx="210312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ocr-logger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89520" y="21031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1535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8952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 (healthy)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520440"/>
            <a:ext cx="1828800" cy="9144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/history endpoint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38360" y="1691640"/>
            <a:ext cx="2103120" cy="2423160"/>
          </a:xfrm>
          <a:prstGeom prst="roundRect">
            <a:avLst>
              <a:gd name="adj" fmla="val 434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38360" y="1691640"/>
            <a:ext cx="210312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47" name="Text 45"/>
          <p:cNvSpPr/>
          <p:nvPr/>
        </p:nvSpPr>
        <p:spPr>
          <a:xfrm>
            <a:off x="9875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ocr-rabbitmq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875520" y="21031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1535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:5672 / :15672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875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875520" y="2697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875520" y="3520440"/>
            <a:ext cx="1828800" cy="9144"/>
          </a:xfrm>
          <a:prstGeom prst="rect">
            <a:avLst/>
          </a:prstGeom>
          <a:solidFill>
            <a:srgbClr val="FFD600">
              <a:alpha val="5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8755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rabbitmq:3-mgmt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healthcheck: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diagnostics ping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0848" y="4572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0848" y="4572000"/>
            <a:ext cx="2788920" cy="54864"/>
          </a:xfrm>
          <a:prstGeom prst="rect">
            <a:avLst/>
          </a:prstGeom>
          <a:solidFill>
            <a:srgbClr val="FFD600"/>
          </a:solidFill>
          <a:ln/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8" y="4754880"/>
            <a:ext cx="365760" cy="36576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020928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609448" y="5349240"/>
            <a:ext cx="73152" cy="73152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9" name="Text 56"/>
          <p:cNvSpPr/>
          <p:nvPr/>
        </p:nvSpPr>
        <p:spPr>
          <a:xfrm>
            <a:off x="746608" y="5257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fanout exchange · ocr_exchange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09448" y="5605272"/>
            <a:ext cx="73152" cy="73152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61" name="Text 58"/>
          <p:cNvSpPr/>
          <p:nvPr/>
        </p:nvSpPr>
        <p:spPr>
          <a:xfrm>
            <a:off x="746608" y="5513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delivery_mode=2 (persistent)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09448" y="5861304"/>
            <a:ext cx="73152" cy="73152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63" name="Text 60"/>
          <p:cNvSpPr/>
          <p:nvPr/>
        </p:nvSpPr>
        <p:spPr>
          <a:xfrm>
            <a:off x="746608" y="57698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exclusive auto-named queue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09448" y="6117336"/>
            <a:ext cx="73152" cy="73152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65" name="Text 62"/>
          <p:cNvSpPr/>
          <p:nvPr/>
        </p:nvSpPr>
        <p:spPr>
          <a:xfrm>
            <a:off x="746608" y="6025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auto-reconnect loop on consumer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261208" y="4572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61208" y="4572000"/>
            <a:ext cx="2788920" cy="54864"/>
          </a:xfrm>
          <a:prstGeom prst="rect">
            <a:avLst/>
          </a:prstGeom>
          <a:solidFill>
            <a:srgbClr val="00FFA3"/>
          </a:solidFill>
          <a:ln/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088" y="4754880"/>
            <a:ext cx="365760" cy="36576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3901288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CLOUD-READY</a:t>
            </a:r>
            <a:endParaRPr lang="en-US" sz="1000" dirty="0"/>
          </a:p>
        </p:txBody>
      </p:sp>
      <p:sp>
        <p:nvSpPr>
          <p:cNvPr id="70" name="Shape 66"/>
          <p:cNvSpPr/>
          <p:nvPr/>
        </p:nvSpPr>
        <p:spPr>
          <a:xfrm>
            <a:off x="3489808" y="5349240"/>
            <a:ext cx="73152" cy="7315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71" name="Text 67"/>
          <p:cNvSpPr/>
          <p:nvPr/>
        </p:nvSpPr>
        <p:spPr>
          <a:xfrm>
            <a:off x="3626968" y="5257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 services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3489808" y="5605272"/>
            <a:ext cx="73152" cy="7315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73" name="Text 69"/>
          <p:cNvSpPr/>
          <p:nvPr/>
        </p:nvSpPr>
        <p:spPr>
          <a:xfrm>
            <a:off x="3626968" y="5513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env-var configuration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3489808" y="5861304"/>
            <a:ext cx="73152" cy="7315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75" name="Text 71"/>
          <p:cNvSpPr/>
          <p:nvPr/>
        </p:nvSpPr>
        <p:spPr>
          <a:xfrm>
            <a:off x="3626968" y="57698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 structured logging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3489808" y="6117336"/>
            <a:ext cx="73152" cy="73152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77" name="Text 73"/>
          <p:cNvSpPr/>
          <p:nvPr/>
        </p:nvSpPr>
        <p:spPr>
          <a:xfrm>
            <a:off x="3626968" y="6025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 → k8s/ECS/Cloud Run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6141568" y="4572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6141568" y="4572000"/>
            <a:ext cx="278892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8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754880"/>
            <a:ext cx="365760" cy="365760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6781648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82" name="Shape 77"/>
          <p:cNvSpPr/>
          <p:nvPr/>
        </p:nvSpPr>
        <p:spPr>
          <a:xfrm>
            <a:off x="6370168" y="5349240"/>
            <a:ext cx="73152" cy="7315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83" name="Text 78"/>
          <p:cNvSpPr/>
          <p:nvPr/>
        </p:nvSpPr>
        <p:spPr>
          <a:xfrm>
            <a:off x="6507328" y="5257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 endpoint on logger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6370168" y="5605272"/>
            <a:ext cx="73152" cy="7315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85" name="Text 80"/>
          <p:cNvSpPr/>
          <p:nvPr/>
        </p:nvSpPr>
        <p:spPr>
          <a:xfrm>
            <a:off x="6507328" y="5513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 mgmt UI :15672</a:t>
            </a:r>
            <a:endParaRPr lang="en-US" sz="900" dirty="0"/>
          </a:p>
        </p:txBody>
      </p:sp>
      <p:sp>
        <p:nvSpPr>
          <p:cNvPr id="86" name="Shape 81"/>
          <p:cNvSpPr/>
          <p:nvPr/>
        </p:nvSpPr>
        <p:spPr>
          <a:xfrm>
            <a:off x="6370168" y="5861304"/>
            <a:ext cx="73152" cy="7315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87" name="Text 82"/>
          <p:cNvSpPr/>
          <p:nvPr/>
        </p:nvSpPr>
        <p:spPr>
          <a:xfrm>
            <a:off x="6507328" y="57698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/docs · /openapi.json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6370168" y="6117336"/>
            <a:ext cx="73152" cy="7315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89" name="Text 84"/>
          <p:cNvSpPr/>
          <p:nvPr/>
        </p:nvSpPr>
        <p:spPr>
          <a:xfrm>
            <a:off x="6507328" y="6025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stdout per service</a:t>
            </a:r>
            <a:endParaRPr lang="en-US" sz="900" dirty="0"/>
          </a:p>
        </p:txBody>
      </p:sp>
      <p:sp>
        <p:nvSpPr>
          <p:cNvPr id="90" name="Shape 85"/>
          <p:cNvSpPr/>
          <p:nvPr/>
        </p:nvSpPr>
        <p:spPr>
          <a:xfrm>
            <a:off x="9021928" y="4572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A2350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9021928" y="4572000"/>
            <a:ext cx="2788920" cy="54864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9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4808" y="4754880"/>
            <a:ext cx="365760" cy="365760"/>
          </a:xfrm>
          <a:prstGeom prst="rect">
            <a:avLst/>
          </a:prstGeom>
        </p:spPr>
      </p:pic>
      <p:sp>
        <p:nvSpPr>
          <p:cNvPr id="93" name="Text 87"/>
          <p:cNvSpPr/>
          <p:nvPr/>
        </p:nvSpPr>
        <p:spPr>
          <a:xfrm>
            <a:off x="9662008" y="4754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000" dirty="0"/>
          </a:p>
        </p:txBody>
      </p:sp>
      <p:sp>
        <p:nvSpPr>
          <p:cNvPr id="94" name="Shape 88"/>
          <p:cNvSpPr/>
          <p:nvPr/>
        </p:nvSpPr>
        <p:spPr>
          <a:xfrm>
            <a:off x="9250528" y="5349240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95" name="Text 89"/>
          <p:cNvSpPr/>
          <p:nvPr/>
        </p:nvSpPr>
        <p:spPr>
          <a:xfrm>
            <a:off x="9387688" y="5257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serves Jinja2</a:t>
            </a:r>
            <a:endParaRPr lang="en-US" sz="900" dirty="0"/>
          </a:p>
        </p:txBody>
      </p:sp>
      <p:sp>
        <p:nvSpPr>
          <p:cNvPr id="96" name="Shape 90"/>
          <p:cNvSpPr/>
          <p:nvPr/>
        </p:nvSpPr>
        <p:spPr>
          <a:xfrm>
            <a:off x="9250528" y="5605272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97" name="Text 91"/>
          <p:cNvSpPr/>
          <p:nvPr/>
        </p:nvSpPr>
        <p:spPr>
          <a:xfrm>
            <a:off x="9387688" y="5513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templates/index.html</a:t>
            </a:r>
            <a:endParaRPr lang="en-US" sz="900" dirty="0"/>
          </a:p>
        </p:txBody>
      </p:sp>
      <p:sp>
        <p:nvSpPr>
          <p:cNvPr id="98" name="Shape 92"/>
          <p:cNvSpPr/>
          <p:nvPr/>
        </p:nvSpPr>
        <p:spPr>
          <a:xfrm>
            <a:off x="9250528" y="5861304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99" name="Text 93"/>
          <p:cNvSpPr/>
          <p:nvPr/>
        </p:nvSpPr>
        <p:spPr>
          <a:xfrm>
            <a:off x="9387688" y="57698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CSS at  /  endpoint</a:t>
            </a:r>
            <a:endParaRPr lang="en-US" sz="900" dirty="0"/>
          </a:p>
        </p:txBody>
      </p:sp>
      <p:sp>
        <p:nvSpPr>
          <p:cNvPr id="100" name="Shape 94"/>
          <p:cNvSpPr/>
          <p:nvPr/>
        </p:nvSpPr>
        <p:spPr>
          <a:xfrm>
            <a:off x="9250528" y="6117336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01" name="Text 95"/>
          <p:cNvSpPr/>
          <p:nvPr/>
        </p:nvSpPr>
        <p:spPr>
          <a:xfrm>
            <a:off x="9387688" y="6025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drag-drop upload form</a:t>
            </a:r>
            <a:endParaRPr lang="en-US" sz="900" dirty="0"/>
          </a:p>
        </p:txBody>
      </p:sp>
      <p:sp>
        <p:nvSpPr>
          <p:cNvPr id="102" name="Text 9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103" name="Text 9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26</a:t>
            </a:r>
            <a:endParaRPr lang="en-US" sz="900" dirty="0"/>
          </a:p>
        </p:txBody>
      </p:sp>
      <p:sp>
        <p:nvSpPr>
          <p:cNvPr id="104" name="Shape 98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· Quickstart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22 · clone → up → done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4552" cy="3108960"/>
          </a:xfrm>
          <a:prstGeom prst="roundRect">
            <a:avLst>
              <a:gd name="adj" fmla="val 2941"/>
            </a:avLst>
          </a:prstGeom>
          <a:solidFill>
            <a:srgbClr val="06081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2704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52704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52704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  ·  ~/projects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https://github.com/EnalHazem/ocr-proj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176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762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ocr-proj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432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3230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-d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9443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 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00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456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logger 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7124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1246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http://localhost:8003/history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9684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RabbitMQ admin (ocr_user / ocr_pass)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2245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http://localhost:15672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37760"/>
            <a:ext cx="411480" cy="411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801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TEST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5800" y="544068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60818"/>
          </a:solidFill>
          <a:ln w="9525">
            <a:solidFill>
              <a:srgbClr val="00FF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test_api.py word2.jpg \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--endpoint predict-word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45352" y="475488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937760"/>
            <a:ext cx="411480" cy="4114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4088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 ·  default ports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46520" y="5349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7589520" y="53492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· UI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446520" y="5550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7589520" y="55504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446520" y="5751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7589520" y="57515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446520" y="5952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7589520" y="59527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 · /history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446520" y="6153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:15672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7589520" y="61539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 admin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26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23 · the roadmap from 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0848" y="15544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0848" y="1554480"/>
            <a:ext cx="54864" cy="2331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56372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528" y="17373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3728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3728" y="2834640"/>
            <a:ext cx="457200" cy="18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9"/>
          <p:cNvSpPr/>
          <p:nvPr/>
        </p:nvSpPr>
        <p:spPr>
          <a:xfrm>
            <a:off x="563728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publishes job  ·  Worker consumes  ·  result in Redis/Postgres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61208" y="15544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1208" y="1554480"/>
            <a:ext cx="54864" cy="2331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4408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8" y="173736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44088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logger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444088" y="2834640"/>
            <a:ext cx="457200" cy="18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Text 15"/>
          <p:cNvSpPr/>
          <p:nvPr/>
        </p:nvSpPr>
        <p:spPr>
          <a:xfrm>
            <a:off x="3444088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 for /history  ·  query-able audit trail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41568" y="15544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41568" y="1554480"/>
            <a:ext cx="54864" cy="2331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18"/>
          <p:cNvSpPr/>
          <p:nvPr/>
        </p:nvSpPr>
        <p:spPr>
          <a:xfrm>
            <a:off x="632444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248" y="173736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24448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OCR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324448" y="2834640"/>
            <a:ext cx="457200" cy="18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6" name="Text 21"/>
          <p:cNvSpPr/>
          <p:nvPr/>
        </p:nvSpPr>
        <p:spPr>
          <a:xfrm>
            <a:off x="6324448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French via EasyOCR language packs or fine-tuned models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21928" y="15544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21928" y="1554480"/>
            <a:ext cx="54864" cy="2331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9" name="Text 24"/>
          <p:cNvSpPr/>
          <p:nvPr/>
        </p:nvSpPr>
        <p:spPr>
          <a:xfrm>
            <a:off x="920480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608" y="173736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04808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containers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204808" y="2834640"/>
            <a:ext cx="457200" cy="1828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3" name="Text 27"/>
          <p:cNvSpPr/>
          <p:nvPr/>
        </p:nvSpPr>
        <p:spPr>
          <a:xfrm>
            <a:off x="9204808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inference for real-time  ·  pin nvidia base image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80848" y="40690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80848" y="4069080"/>
            <a:ext cx="54864" cy="2331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6" name="Text 30"/>
          <p:cNvSpPr/>
          <p:nvPr/>
        </p:nvSpPr>
        <p:spPr>
          <a:xfrm>
            <a:off x="563728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2528" y="4251960"/>
            <a:ext cx="502920" cy="5029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63728" y="4846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backbones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63728" y="5349240"/>
            <a:ext cx="457200" cy="1828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0" name="Text 33"/>
          <p:cNvSpPr/>
          <p:nvPr/>
        </p:nvSpPr>
        <p:spPr>
          <a:xfrm>
            <a:off x="563728" y="54864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· ViT-tiny  ·  break the O/D, I/L confusion ceiling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3261208" y="40690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3261208" y="4069080"/>
            <a:ext cx="54864" cy="23317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3" name="Text 36"/>
          <p:cNvSpPr/>
          <p:nvPr/>
        </p:nvSpPr>
        <p:spPr>
          <a:xfrm>
            <a:off x="3444088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888" y="4251960"/>
            <a:ext cx="502920" cy="5029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444088" y="4846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post-processing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3444088" y="5349240"/>
            <a:ext cx="457200" cy="1828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7" name="Text 39"/>
          <p:cNvSpPr/>
          <p:nvPr/>
        </p:nvSpPr>
        <p:spPr>
          <a:xfrm>
            <a:off x="3444088" y="54864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word correction  ·  e.g. 'HELL0' → 'HELLO'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6141568" y="40690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6141568" y="4069080"/>
            <a:ext cx="54864" cy="23317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50" name="Text 42"/>
          <p:cNvSpPr/>
          <p:nvPr/>
        </p:nvSpPr>
        <p:spPr>
          <a:xfrm>
            <a:off x="6324448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3248" y="4251960"/>
            <a:ext cx="502920" cy="50292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324448" y="4846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HPA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6324448" y="5349240"/>
            <a:ext cx="457200" cy="1828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54" name="Text 45"/>
          <p:cNvSpPr/>
          <p:nvPr/>
        </p:nvSpPr>
        <p:spPr>
          <a:xfrm>
            <a:off x="6324448" y="54864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char/word pods on QPS  ·  Prometheus + Grafana  ·  OTEL tracing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9021928" y="4069080"/>
            <a:ext cx="27889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9021928" y="4069080"/>
            <a:ext cx="54864" cy="233172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57" name="Text 48"/>
          <p:cNvSpPr/>
          <p:nvPr/>
        </p:nvSpPr>
        <p:spPr>
          <a:xfrm>
            <a:off x="9204808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3608" y="4251960"/>
            <a:ext cx="502920" cy="50292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9204808" y="4846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00" dirty="0"/>
          </a:p>
        </p:txBody>
      </p:sp>
      <p:sp>
        <p:nvSpPr>
          <p:cNvPr id="60" name="Shape 50"/>
          <p:cNvSpPr/>
          <p:nvPr/>
        </p:nvSpPr>
        <p:spPr>
          <a:xfrm>
            <a:off x="9204808" y="5349240"/>
            <a:ext cx="457200" cy="18288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61" name="Text 51"/>
          <p:cNvSpPr/>
          <p:nvPr/>
        </p:nvSpPr>
        <p:spPr>
          <a:xfrm>
            <a:off x="9204808" y="54864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·  automated image builds  ·  security scans</a:t>
            </a:r>
            <a:endParaRPr lang="en-US" sz="1100" dirty="0"/>
          </a:p>
        </p:txBody>
      </p:sp>
      <p:sp>
        <p:nvSpPr>
          <p:cNvPr id="62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63" name="Text 53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26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24 · why these tradeoffs · in retrospect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288" y="15544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8" y="1554480"/>
            <a:ext cx="5532120" cy="54864"/>
          </a:xfrm>
          <a:prstGeom prst="rect">
            <a:avLst/>
          </a:prstGeom>
          <a:solidFill>
            <a:srgbClr val="00D9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8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0968" y="17373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 over monolith?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0888" y="2468880"/>
            <a:ext cx="5074920" cy="9144"/>
          </a:xfrm>
          <a:prstGeom prst="rect">
            <a:avLst/>
          </a:prstGeom>
          <a:solidFill>
            <a:srgbClr val="00D9FF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00888" y="26060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— GPU-heavy inference vs. UI-light gateway. Fault isolation: a Word-service crash does not kill the Gateway or Character path. Easier upgrades: roll out new char model without redeploying the world.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7288" y="15544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87288" y="1554480"/>
            <a:ext cx="5532120" cy="54864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55968" y="17373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MobileNetV2 over CNN from scratch?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415888" y="2468880"/>
            <a:ext cx="5074920" cy="9144"/>
          </a:xfrm>
          <a:prstGeom prst="rect">
            <a:avLst/>
          </a:prstGeom>
          <a:solidFill>
            <a:srgbClr val="0066FF">
              <a:alpha val="5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415888" y="26060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prior &gt; limited handwriting data. Transfer learning gives the model a head start on edges, strokes, and shape primitives. Higher accuracy at comparable param count, with the two-phase fine-tune squeezing out the last few points.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72288" y="40690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2288" y="4069080"/>
            <a:ext cx="553212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88" y="42976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40968" y="42519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EasyOCR for words?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00888" y="4983480"/>
            <a:ext cx="5074920" cy="9144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00888" y="51206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pragmatism. Rebuilding a CRAFT + CRNN sequence model would have eaten the whole semester. Off-the-shelf lets us focus our novel contribution on the character-recognition pipeline and microservice architecture.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87288" y="40690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187288" y="4069080"/>
            <a:ext cx="5532120" cy="54864"/>
          </a:xfrm>
          <a:prstGeom prst="rect">
            <a:avLst/>
          </a:prstGeom>
          <a:solidFill>
            <a:srgbClr val="FFD6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888" y="42976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55968" y="42519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RabbitMQ fanout?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415888" y="4983480"/>
            <a:ext cx="5074920" cy="9144"/>
          </a:xfrm>
          <a:prstGeom prst="rect">
            <a:avLst/>
          </a:prstGeom>
          <a:solidFill>
            <a:srgbClr val="FFD600">
              <a:alpha val="5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415888" y="51206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Future-proofs the system for additional consumers (analytics, audit, billing) without changing the publisher. A new consumer just subscribes to ocr_exchange — no Gateway code change required. Decouples write rate from read rate.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26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438912" cy="438912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25 · what we delivered · what it proves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4552" cy="1600200"/>
          </a:xfrm>
          <a:prstGeom prst="roundRect">
            <a:avLst>
              <a:gd name="adj" fmla="val 5714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1920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reproducible, cloud-ready OCR system combining custom deep learning and production microservice engineering.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11274552" cy="1783080"/>
          </a:xfrm>
          <a:prstGeom prst="roundRect">
            <a:avLst>
              <a:gd name="adj" fmla="val 5128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LIFECYCLE  ·  end to end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5752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58672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58672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5752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18792" y="4251960"/>
            <a:ext cx="73152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291944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94864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94864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291944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754984" y="4251960"/>
            <a:ext cx="73152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828136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1056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31056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828136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291176" y="4251960"/>
            <a:ext cx="73152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364328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67248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6724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64328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27368" y="4251960"/>
            <a:ext cx="73152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900520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03440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034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00520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363560" y="4251960"/>
            <a:ext cx="73152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436712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939632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39632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436712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899752" y="4251960"/>
            <a:ext cx="73152" cy="0"/>
          </a:xfrm>
          <a:prstGeom prst="line">
            <a:avLst/>
          </a:prstGeom>
          <a:noFill/>
          <a:ln w="2032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9972904" y="3749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475824" y="3858768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475824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972904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7200" y="507492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0F1535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49240"/>
            <a:ext cx="457200" cy="4572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32588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the ≥ 90% target on the A–Z handwritten benchmark while remaining horizontally scalable.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1325880" y="5760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Production-grade microservices  ·  observable  ·  reproducible builds  ·  ready to scale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26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365760" y="6583680"/>
            <a:ext cx="548640" cy="18288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3" name="Image 0" descr="/home/claude/ocr-pres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429768"/>
            <a:ext cx="649224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UNIVERSITY  ·  AI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Project  ·  Level 3 · Semester 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33288" y="2286000"/>
            <a:ext cx="731520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423160"/>
            <a:ext cx="11247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346704" y="466344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131A3D"/>
          </a:solidFill>
          <a:ln w="9525">
            <a:solidFill>
              <a:srgbClr val="2A34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7731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46634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github.com/EnalHazem/ocr-proj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371600" y="5532120"/>
            <a:ext cx="1600200" cy="384048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71600" y="5532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108960" y="5532120"/>
            <a:ext cx="1600200" cy="384048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08960" y="5532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0" y="5532120"/>
            <a:ext cx="1600200" cy="384048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5532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583680" y="5532120"/>
            <a:ext cx="1600200" cy="384048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5532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321040" y="5532120"/>
            <a:ext cx="1600200" cy="384048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21040" y="5532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EASYOCR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10058400" y="5532120"/>
            <a:ext cx="1600200" cy="384048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058400" y="5532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K8S-READY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Team:  [insert names]   ·   Course: Cloud Computing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7200" y="6583680"/>
            <a:ext cx="11247120" cy="9144"/>
          </a:xfrm>
          <a:prstGeom prst="rect">
            <a:avLst/>
          </a:prstGeom>
          <a:solidFill>
            <a:srgbClr val="00D9FF">
              <a:alpha val="4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OCR Microservices Pipeline  ·  Capital University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OCR Microservices Pipeline</dc:title>
  <dc:subject>PptxGenJS Presentation</dc:subject>
  <dc:creator>Capital University — AI Engineering</dc:creator>
  <cp:lastModifiedBy>Capital University — AI Engineering</cp:lastModifiedBy>
  <cp:revision>1</cp:revision>
  <dcterms:created xsi:type="dcterms:W3CDTF">2026-05-09T10:48:44Z</dcterms:created>
  <dcterms:modified xsi:type="dcterms:W3CDTF">2026-05-09T10:48:44Z</dcterms:modified>
</cp:coreProperties>
</file>